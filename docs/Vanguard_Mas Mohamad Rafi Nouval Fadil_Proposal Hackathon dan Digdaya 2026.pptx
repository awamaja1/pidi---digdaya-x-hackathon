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7556500" cy="10693400"/>
  <p:notesSz cx="6858000" cy="9144000"/>
  <p:embeddedFontLst>
    <p:embeddedFont>
      <p:font typeface="Arial Rounded MT Bold" panose="020F0704030504030204" pitchFamily="34" charset="0"/>
      <p:regular r:id="rId22"/>
    </p:embeddedFont>
    <p:embeddedFont>
      <p:font typeface="Mortend Bold" panose="020B0604020202020204" charset="0"/>
      <p:regular r:id="rId23"/>
    </p:embeddedFont>
    <p:embeddedFont>
      <p:font typeface="Oxanium" panose="020B0604020202020204" charset="2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10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2C757-A218-4E37-AF82-BC953BA6CE43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EA4ED-4BDE-42E5-B063-3A4B3D4DA6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8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EA4ED-4BDE-42E5-B063-3A4B3D4DA6A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95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1" t="-4099" r="-1511" b="-409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99298" y="756000"/>
            <a:ext cx="1197187" cy="225833"/>
          </a:xfrm>
          <a:custGeom>
            <a:avLst/>
            <a:gdLst/>
            <a:ahLst/>
            <a:cxnLst/>
            <a:rect l="l" t="t" r="r" b="b"/>
            <a:pathLst>
              <a:path w="1197187" h="225833">
                <a:moveTo>
                  <a:pt x="0" y="0"/>
                </a:moveTo>
                <a:lnTo>
                  <a:pt x="1197187" y="0"/>
                </a:lnTo>
                <a:lnTo>
                  <a:pt x="1197187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548199" y="756000"/>
            <a:ext cx="519156" cy="225833"/>
          </a:xfrm>
          <a:custGeom>
            <a:avLst/>
            <a:gdLst/>
            <a:ahLst/>
            <a:cxnLst/>
            <a:rect l="l" t="t" r="r" b="b"/>
            <a:pathLst>
              <a:path w="519156" h="225833">
                <a:moveTo>
                  <a:pt x="0" y="0"/>
                </a:moveTo>
                <a:lnTo>
                  <a:pt x="519156" y="0"/>
                </a:lnTo>
                <a:lnTo>
                  <a:pt x="51915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315005" y="756000"/>
            <a:ext cx="728085" cy="225833"/>
          </a:xfrm>
          <a:custGeom>
            <a:avLst/>
            <a:gdLst/>
            <a:ahLst/>
            <a:cxnLst/>
            <a:rect l="l" t="t" r="r" b="b"/>
            <a:pathLst>
              <a:path w="728085" h="225833">
                <a:moveTo>
                  <a:pt x="0" y="0"/>
                </a:moveTo>
                <a:lnTo>
                  <a:pt x="728086" y="0"/>
                </a:lnTo>
                <a:lnTo>
                  <a:pt x="72808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290741" y="756000"/>
            <a:ext cx="422447" cy="225833"/>
          </a:xfrm>
          <a:custGeom>
            <a:avLst/>
            <a:gdLst/>
            <a:ahLst/>
            <a:cxnLst/>
            <a:rect l="l" t="t" r="r" b="b"/>
            <a:pathLst>
              <a:path w="422447" h="225833">
                <a:moveTo>
                  <a:pt x="0" y="0"/>
                </a:moveTo>
                <a:lnTo>
                  <a:pt x="422446" y="0"/>
                </a:lnTo>
                <a:lnTo>
                  <a:pt x="42244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960837" y="756000"/>
            <a:ext cx="781729" cy="225833"/>
          </a:xfrm>
          <a:custGeom>
            <a:avLst/>
            <a:gdLst/>
            <a:ahLst/>
            <a:cxnLst/>
            <a:rect l="l" t="t" r="r" b="b"/>
            <a:pathLst>
              <a:path w="781729" h="225833">
                <a:moveTo>
                  <a:pt x="0" y="0"/>
                </a:moveTo>
                <a:lnTo>
                  <a:pt x="781730" y="0"/>
                </a:lnTo>
                <a:lnTo>
                  <a:pt x="781730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22613" y="4693338"/>
            <a:ext cx="5114773" cy="652662"/>
            <a:chOff x="0" y="0"/>
            <a:chExt cx="6819698" cy="870217"/>
          </a:xfrm>
        </p:grpSpPr>
        <p:sp>
          <p:nvSpPr>
            <p:cNvPr id="9" name="Freeform 9"/>
            <p:cNvSpPr/>
            <p:nvPr/>
          </p:nvSpPr>
          <p:spPr>
            <a:xfrm>
              <a:off x="3255378" y="0"/>
              <a:ext cx="601698" cy="870217"/>
            </a:xfrm>
            <a:custGeom>
              <a:avLst/>
              <a:gdLst/>
              <a:ahLst/>
              <a:cxnLst/>
              <a:rect l="l" t="t" r="r" b="b"/>
              <a:pathLst>
                <a:path w="601698" h="870217">
                  <a:moveTo>
                    <a:pt x="0" y="0"/>
                  </a:moveTo>
                  <a:lnTo>
                    <a:pt x="601698" y="0"/>
                  </a:lnTo>
                  <a:lnTo>
                    <a:pt x="601698" y="870217"/>
                  </a:lnTo>
                  <a:lnTo>
                    <a:pt x="0" y="870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11018" r="-592956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3975127" y="84686"/>
              <a:ext cx="2844570" cy="700844"/>
            </a:xfrm>
            <a:custGeom>
              <a:avLst/>
              <a:gdLst/>
              <a:ahLst/>
              <a:cxnLst/>
              <a:rect l="l" t="t" r="r" b="b"/>
              <a:pathLst>
                <a:path w="2844570" h="700844">
                  <a:moveTo>
                    <a:pt x="0" y="0"/>
                  </a:moveTo>
                  <a:lnTo>
                    <a:pt x="2844571" y="0"/>
                  </a:lnTo>
                  <a:lnTo>
                    <a:pt x="2844571" y="700844"/>
                  </a:lnTo>
                  <a:lnTo>
                    <a:pt x="0" y="700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22138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3135922" cy="812019"/>
            </a:xfrm>
            <a:custGeom>
              <a:avLst/>
              <a:gdLst/>
              <a:ahLst/>
              <a:cxnLst/>
              <a:rect l="l" t="t" r="r" b="b"/>
              <a:pathLst>
                <a:path w="3135922" h="812019">
                  <a:moveTo>
                    <a:pt x="0" y="0"/>
                  </a:moveTo>
                  <a:lnTo>
                    <a:pt x="3135922" y="0"/>
                  </a:lnTo>
                  <a:lnTo>
                    <a:pt x="3135922" y="812019"/>
                  </a:lnTo>
                  <a:lnTo>
                    <a:pt x="0" y="812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2337" r="-1127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5990217" y="756000"/>
            <a:ext cx="470485" cy="225833"/>
          </a:xfrm>
          <a:custGeom>
            <a:avLst/>
            <a:gdLst/>
            <a:ahLst/>
            <a:cxnLst/>
            <a:rect l="l" t="t" r="r" b="b"/>
            <a:pathLst>
              <a:path w="470485" h="225833">
                <a:moveTo>
                  <a:pt x="0" y="0"/>
                </a:moveTo>
                <a:lnTo>
                  <a:pt x="470485" y="0"/>
                </a:lnTo>
                <a:lnTo>
                  <a:pt x="470485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67645" y="2447859"/>
            <a:ext cx="5624711" cy="886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09"/>
              </a:lnSpc>
            </a:pPr>
            <a:r>
              <a:rPr lang="en-US" sz="4863">
                <a:solidFill>
                  <a:srgbClr val="D9EEF6"/>
                </a:solidFill>
                <a:latin typeface="Mortend Bold"/>
                <a:ea typeface="Mortend Bold"/>
                <a:cs typeface="Mortend Bold"/>
                <a:sym typeface="Mortend Bold"/>
              </a:rPr>
              <a:t>proposal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7645" y="2222434"/>
            <a:ext cx="5602199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D9EEF6"/>
                </a:solidFill>
                <a:latin typeface="Mortend Bold"/>
                <a:ea typeface="Mortend Bold"/>
                <a:cs typeface="Mortend Bold"/>
                <a:sym typeface="Mortend Bold"/>
              </a:rPr>
              <a:t>1st submission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8134" y="8381441"/>
            <a:ext cx="5341220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pusat inovasi </a:t>
            </a:r>
          </a:p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digital indonesia</a:t>
            </a:r>
          </a:p>
          <a:p>
            <a:pPr algn="ctr">
              <a:lnSpc>
                <a:spcPts val="2499"/>
              </a:lnSpc>
            </a:pPr>
            <a:r>
              <a:rPr lang="en-US" sz="2499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2026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98134" y="5555342"/>
            <a:ext cx="534122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berinovasi untuk masa depan,</a:t>
            </a:r>
          </a:p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memberdayakan talenta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728703"/>
            <a:ext cx="6048000" cy="889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ketentuan penulisan proposal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858592"/>
            <a:ext cx="6048000" cy="720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Proposal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wajib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ditulis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Bahasa Indonesia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mudah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dipahami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Gunakan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bahasa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formal,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langsung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inti.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Hindari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jargon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teknis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berlebihan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tanpa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penjelasan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Fokus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pada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kejelasan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ide,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logika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nyata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sekadar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gaya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bahasa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Proposal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mengikuti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struktur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template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resmi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disediakan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oleh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panitia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Setiap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diisi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secara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proporsional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tidak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terlalu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panjang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satu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terlalu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lain.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Format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dokumen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Format file: PDF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file: Nama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Tim_Nama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Ketua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Tim_Proposal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Hackathon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Digdaya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2026.pdf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Spasi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1 – 1.15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Font: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bebas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mudah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dibaca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(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contoh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Arial, Calibri, Times New Roman)</a:t>
            </a:r>
          </a:p>
          <a:p>
            <a:pPr marL="604518" lvl="2" indent="-201506" algn="just">
              <a:lnSpc>
                <a:spcPts val="1959"/>
              </a:lnSpc>
              <a:buFont typeface="Arial"/>
              <a:buChar char="⚬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Ukuran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font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11–12 pt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Gambar, diagram,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tabel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atau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ilustrasi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bersifat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opsional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Visual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hanya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membantu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memperjelas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ide,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sebagai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dekorasi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Semua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visual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mudah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dibaca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dan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diberi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judul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atau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keterangan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singkat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perlu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Dapat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menambahkan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Referensi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sebagai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tambahan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akhir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dokumen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proposal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mengutip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pihak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lain.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Proposal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telah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diisi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dapat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diunggah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laman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submission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dengan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bentuk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pdf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saja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302259" lvl="1" indent="-151129" algn="just">
              <a:lnSpc>
                <a:spcPts val="1959"/>
              </a:lnSpc>
              <a:buFont typeface="Arial"/>
              <a:buChar char="•"/>
            </a:pP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Peserta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dapat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melampirkan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dokumen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tambahan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lain yang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atau link demo / prototype (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bersifat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99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opsional</a:t>
            </a:r>
            <a:r>
              <a:rPr lang="en-US" sz="1399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505637"/>
            <a:ext cx="1857895" cy="8430363"/>
            <a:chOff x="0" y="0"/>
            <a:chExt cx="520178" cy="23603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0178" cy="2360353"/>
            </a:xfrm>
            <a:custGeom>
              <a:avLst/>
              <a:gdLst/>
              <a:ahLst/>
              <a:cxnLst/>
              <a:rect l="l" t="t" r="r" b="b"/>
              <a:pathLst>
                <a:path w="520178" h="2360353">
                  <a:moveTo>
                    <a:pt x="61854" y="0"/>
                  </a:moveTo>
                  <a:lnTo>
                    <a:pt x="458323" y="0"/>
                  </a:lnTo>
                  <a:cubicBezTo>
                    <a:pt x="474728" y="0"/>
                    <a:pt x="490461" y="6517"/>
                    <a:pt x="502061" y="18117"/>
                  </a:cubicBezTo>
                  <a:cubicBezTo>
                    <a:pt x="513661" y="29717"/>
                    <a:pt x="520178" y="45450"/>
                    <a:pt x="520178" y="61854"/>
                  </a:cubicBezTo>
                  <a:lnTo>
                    <a:pt x="520178" y="2298498"/>
                  </a:lnTo>
                  <a:cubicBezTo>
                    <a:pt x="520178" y="2314903"/>
                    <a:pt x="513661" y="2330636"/>
                    <a:pt x="502061" y="2342236"/>
                  </a:cubicBezTo>
                  <a:cubicBezTo>
                    <a:pt x="490461" y="2353836"/>
                    <a:pt x="474728" y="2360353"/>
                    <a:pt x="458323" y="2360353"/>
                  </a:cubicBezTo>
                  <a:lnTo>
                    <a:pt x="61854" y="2360353"/>
                  </a:lnTo>
                  <a:cubicBezTo>
                    <a:pt x="45450" y="2360353"/>
                    <a:pt x="29717" y="2353836"/>
                    <a:pt x="18117" y="2342236"/>
                  </a:cubicBezTo>
                  <a:cubicBezTo>
                    <a:pt x="6517" y="2330636"/>
                    <a:pt x="0" y="2314903"/>
                    <a:pt x="0" y="2298498"/>
                  </a:cubicBezTo>
                  <a:lnTo>
                    <a:pt x="0" y="61854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4" y="0"/>
                  </a:cubicBezTo>
                  <a:close/>
                </a:path>
              </a:pathLst>
            </a:custGeom>
            <a:ln w="19050" cap="sq">
              <a:solidFill>
                <a:srgbClr val="1F4894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520178" cy="2388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728703"/>
            <a:ext cx="6048000" cy="45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statements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851053" y="1505637"/>
            <a:ext cx="1857895" cy="8430363"/>
            <a:chOff x="0" y="0"/>
            <a:chExt cx="520178" cy="23603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0178" cy="2360353"/>
            </a:xfrm>
            <a:custGeom>
              <a:avLst/>
              <a:gdLst/>
              <a:ahLst/>
              <a:cxnLst/>
              <a:rect l="l" t="t" r="r" b="b"/>
              <a:pathLst>
                <a:path w="520178" h="2360353">
                  <a:moveTo>
                    <a:pt x="61854" y="0"/>
                  </a:moveTo>
                  <a:lnTo>
                    <a:pt x="458323" y="0"/>
                  </a:lnTo>
                  <a:cubicBezTo>
                    <a:pt x="474728" y="0"/>
                    <a:pt x="490461" y="6517"/>
                    <a:pt x="502061" y="18117"/>
                  </a:cubicBezTo>
                  <a:cubicBezTo>
                    <a:pt x="513661" y="29717"/>
                    <a:pt x="520178" y="45450"/>
                    <a:pt x="520178" y="61854"/>
                  </a:cubicBezTo>
                  <a:lnTo>
                    <a:pt x="520178" y="2298498"/>
                  </a:lnTo>
                  <a:cubicBezTo>
                    <a:pt x="520178" y="2314903"/>
                    <a:pt x="513661" y="2330636"/>
                    <a:pt x="502061" y="2342236"/>
                  </a:cubicBezTo>
                  <a:cubicBezTo>
                    <a:pt x="490461" y="2353836"/>
                    <a:pt x="474728" y="2360353"/>
                    <a:pt x="458323" y="2360353"/>
                  </a:cubicBezTo>
                  <a:lnTo>
                    <a:pt x="61854" y="2360353"/>
                  </a:lnTo>
                  <a:cubicBezTo>
                    <a:pt x="45450" y="2360353"/>
                    <a:pt x="29717" y="2353836"/>
                    <a:pt x="18117" y="2342236"/>
                  </a:cubicBezTo>
                  <a:cubicBezTo>
                    <a:pt x="6517" y="2330636"/>
                    <a:pt x="0" y="2314903"/>
                    <a:pt x="0" y="2298498"/>
                  </a:cubicBezTo>
                  <a:lnTo>
                    <a:pt x="0" y="61854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4" y="0"/>
                  </a:cubicBezTo>
                  <a:close/>
                </a:path>
              </a:pathLst>
            </a:custGeom>
            <a:ln w="19050" cap="sq">
              <a:solidFill>
                <a:srgbClr val="1F4894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520178" cy="2388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946105" y="1505637"/>
            <a:ext cx="1857895" cy="8430363"/>
            <a:chOff x="0" y="0"/>
            <a:chExt cx="520178" cy="236035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20178" cy="2360353"/>
            </a:xfrm>
            <a:custGeom>
              <a:avLst/>
              <a:gdLst/>
              <a:ahLst/>
              <a:cxnLst/>
              <a:rect l="l" t="t" r="r" b="b"/>
              <a:pathLst>
                <a:path w="520178" h="2360353">
                  <a:moveTo>
                    <a:pt x="61854" y="0"/>
                  </a:moveTo>
                  <a:lnTo>
                    <a:pt x="458323" y="0"/>
                  </a:lnTo>
                  <a:cubicBezTo>
                    <a:pt x="474728" y="0"/>
                    <a:pt x="490461" y="6517"/>
                    <a:pt x="502061" y="18117"/>
                  </a:cubicBezTo>
                  <a:cubicBezTo>
                    <a:pt x="513661" y="29717"/>
                    <a:pt x="520178" y="45450"/>
                    <a:pt x="520178" y="61854"/>
                  </a:cubicBezTo>
                  <a:lnTo>
                    <a:pt x="520178" y="2298498"/>
                  </a:lnTo>
                  <a:cubicBezTo>
                    <a:pt x="520178" y="2314903"/>
                    <a:pt x="513661" y="2330636"/>
                    <a:pt x="502061" y="2342236"/>
                  </a:cubicBezTo>
                  <a:cubicBezTo>
                    <a:pt x="490461" y="2353836"/>
                    <a:pt x="474728" y="2360353"/>
                    <a:pt x="458323" y="2360353"/>
                  </a:cubicBezTo>
                  <a:lnTo>
                    <a:pt x="61854" y="2360353"/>
                  </a:lnTo>
                  <a:cubicBezTo>
                    <a:pt x="45450" y="2360353"/>
                    <a:pt x="29717" y="2353836"/>
                    <a:pt x="18117" y="2342236"/>
                  </a:cubicBezTo>
                  <a:cubicBezTo>
                    <a:pt x="6517" y="2330636"/>
                    <a:pt x="0" y="2314903"/>
                    <a:pt x="0" y="2298498"/>
                  </a:cubicBezTo>
                  <a:lnTo>
                    <a:pt x="0" y="61854"/>
                  </a:lnTo>
                  <a:cubicBezTo>
                    <a:pt x="0" y="45450"/>
                    <a:pt x="6517" y="29717"/>
                    <a:pt x="18117" y="18117"/>
                  </a:cubicBezTo>
                  <a:cubicBezTo>
                    <a:pt x="29717" y="6517"/>
                    <a:pt x="45450" y="0"/>
                    <a:pt x="61854" y="0"/>
                  </a:cubicBezTo>
                  <a:close/>
                </a:path>
              </a:pathLst>
            </a:custGeom>
            <a:ln w="19050" cap="sq">
              <a:solidFill>
                <a:srgbClr val="1F4894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520178" cy="2388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56000" y="1538122"/>
            <a:ext cx="185692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Penguatan Ketahanan dan Inovasi Keuangan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6000" y="2666272"/>
            <a:ext cx="1856928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Manajemen Risiko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6000" y="2959325"/>
            <a:ext cx="1856928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Fraud Detection Systems (FDS)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APU/PPT, Tracing Transaction termasuk kripto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Perlindungan Konsumen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Cyber Security &amp; Data Protection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Regtech &amp; Suptech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4336639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Elektronifikasi Keuangan Daerah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000" y="4856069"/>
            <a:ext cx="1856928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Sistem Pemungutan Pendapatan Daerah yang Cerdas (Smart Revenue Collection)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Smart Belanja Daerah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Smart City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Penasihat Investasi Daerah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Project Crowdfunding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000" y="6385784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Memperluas Investor Ritel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000" y="6905214"/>
            <a:ext cx="1856928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Penasihat Investasi Keuangan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Literasi Investor Ritel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Asisten Keuangan Pribadi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Analisis Perilaku Pasar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Rekomendasi Produk Keuangan dan Analisis Risiko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6000" y="8130129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Keuangan Syariah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6000" y="8649559"/>
            <a:ext cx="1856928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Investasi SUKUK Digital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Analitik ZISWAF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Sertifikasi Halal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Komersialisasi Produk Pesantren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Pembiayaan UMKM Syariah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929919" y="1538122"/>
            <a:ext cx="1699195" cy="162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Peningkatan Produktivitas, Ketahanan Pangan, dan Penciptaan Lapangan Kerja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06259" y="3462244"/>
            <a:ext cx="1746515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Inklusi Ekonomi (UMKM)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65898" y="3969609"/>
            <a:ext cx="1856928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Penjualan Langsung dari Petani ke Konsumen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Matching Demand-Supply Antarwilayah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Pemantauan Inflasi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Pembiayaan Petani &amp; Penajaman Sasaran Subsidi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Logistik Pangan Cerdas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851053" y="5499324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Ketahanan Pangan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65898" y="6009229"/>
            <a:ext cx="1856928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Penjualan Langsung dari Petani ke Konsumen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Matching Demand-Supply Antarwilayah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Pemantauan Inflasi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Pembiayaan Petani &amp; Penajaman Sasaran Subsidi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Logistik Pangan Cerdas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996184" y="7538944"/>
            <a:ext cx="1596356" cy="709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Penciptaan Lapangan Kerja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865898" y="8277449"/>
            <a:ext cx="1856928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Job Matching Berbasis Kecerdasan Artifisial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Skill Gap Advisor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Personalized Training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Analitik Kesesuaian Pekerjaan dan Tenaga Kerja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Job Matching Antarwilayah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025455" y="1538122"/>
            <a:ext cx="1699195" cy="136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Percepatan Layanan Publik, Ekonomi Kreatif, dan Ekspor Jasa Digital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946105" y="3194787"/>
            <a:ext cx="185692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Layanan Publik &amp; Pariwisata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937498" y="3693384"/>
            <a:ext cx="1856928" cy="1539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Integrated Smart Ticketing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Personalisasi Pengalaman Pariwisata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Perizinan dan Pengawasan Vendor MBG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Pengayaan Data untuk Penyaluran Bantuan Sosial Digital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Pemantauan dan Restorasi Lingkungan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69454" y="5527899"/>
            <a:ext cx="18345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Ekonomi Kreatif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60951" y="6026497"/>
            <a:ext cx="1834546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Permainan untuk Nasionalisme dan Edukasi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Animasi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Museum dan Warisan Budaya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IP Protection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Market Insight Industri Kreatif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77958" y="7403811"/>
            <a:ext cx="1834546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Digitalisasi Ekspor Layanan Digital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969454" y="7902409"/>
            <a:ext cx="1834546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Platform Kerja Jarak Jauh (Remote-work)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Layanan IT &amp; Software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Penyelesaian Transaksi Lintas Negara (Cross-Border)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Otomatisasi Layanan Pelanggan Multibahasa</a:t>
            </a:r>
          </a:p>
          <a:p>
            <a:pPr marL="194312" lvl="1" indent="-97156" algn="l">
              <a:lnSpc>
                <a:spcPts val="1260"/>
              </a:lnSpc>
              <a:buAutoNum type="arabicPeriod"/>
            </a:pPr>
            <a:r>
              <a:rPr lang="en-US" sz="900">
                <a:solidFill>
                  <a:srgbClr val="1F4894"/>
                </a:solidFill>
                <a:latin typeface="Oxanium"/>
                <a:ea typeface="Oxanium"/>
                <a:cs typeface="Oxanium"/>
                <a:sym typeface="Oxanium"/>
              </a:rPr>
              <a:t>Local Language AI (LLM)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0333" y="1253850"/>
            <a:ext cx="4644093" cy="312179"/>
            <a:chOff x="0" y="0"/>
            <a:chExt cx="1300264" cy="874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team identity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1254999"/>
            <a:ext cx="770731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Tim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6000" y="1652100"/>
            <a:ext cx="1298108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Ketua Tim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150333" y="1650950"/>
            <a:ext cx="4644093" cy="312179"/>
            <a:chOff x="0" y="0"/>
            <a:chExt cx="1300264" cy="874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Mas Mohamad Rafi Nouval Fadil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50333" y="2048854"/>
            <a:ext cx="4644093" cy="312179"/>
            <a:chOff x="0" y="0"/>
            <a:chExt cx="1300264" cy="874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087834875949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56000" y="2050004"/>
            <a:ext cx="824722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Kontak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50333" y="3640470"/>
            <a:ext cx="4644093" cy="1024446"/>
            <a:chOff x="0" y="0"/>
            <a:chExt cx="1300264" cy="2868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0264" cy="286827"/>
            </a:xfrm>
            <a:custGeom>
              <a:avLst/>
              <a:gdLst/>
              <a:ahLst/>
              <a:cxnLst/>
              <a:rect l="l" t="t" r="r" b="b"/>
              <a:pathLst>
                <a:path w="1300264" h="286827">
                  <a:moveTo>
                    <a:pt x="0" y="0"/>
                  </a:moveTo>
                  <a:lnTo>
                    <a:pt x="1300264" y="0"/>
                  </a:lnTo>
                  <a:lnTo>
                    <a:pt x="1300264" y="286827"/>
                  </a:lnTo>
                  <a:lnTo>
                    <a:pt x="0" y="2868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00264" cy="324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56000" y="3641620"/>
            <a:ext cx="1298108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Nama Anggota Tim &amp; Peran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6000" y="4693491"/>
            <a:ext cx="6062362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Ringkasan Tim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Siapa tim Anda dan kenapa relevan dengan solusi ini?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(maks. 600 karakter)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56000" y="5379925"/>
            <a:ext cx="6038425" cy="3163456"/>
            <a:chOff x="0" y="0"/>
            <a:chExt cx="1690653" cy="8857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90653" cy="885712"/>
            </a:xfrm>
            <a:custGeom>
              <a:avLst/>
              <a:gdLst/>
              <a:ahLst/>
              <a:cxnLst/>
              <a:rect l="l" t="t" r="r" b="b"/>
              <a:pathLst>
                <a:path w="1690653" h="885712">
                  <a:moveTo>
                    <a:pt x="0" y="0"/>
                  </a:moveTo>
                  <a:lnTo>
                    <a:pt x="1690653" y="0"/>
                  </a:lnTo>
                  <a:lnTo>
                    <a:pt x="1690653" y="885712"/>
                  </a:lnTo>
                  <a:lnTo>
                    <a:pt x="0" y="8857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90653" cy="91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150333" y="2446758"/>
            <a:ext cx="4644093" cy="312179"/>
            <a:chOff x="0" y="0"/>
            <a:chExt cx="1300264" cy="874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rafinouval.f@gmail.com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756000" y="2447908"/>
            <a:ext cx="508397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Email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150333" y="2844662"/>
            <a:ext cx="4644093" cy="312179"/>
            <a:chOff x="0" y="0"/>
            <a:chExt cx="1300264" cy="8740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Universitas Pendidikan Indonesia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56000" y="2845812"/>
            <a:ext cx="770731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Institusi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150333" y="3242566"/>
            <a:ext cx="4644093" cy="312179"/>
            <a:chOff x="0" y="0"/>
            <a:chExt cx="1300264" cy="8740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756000" y="3243716"/>
            <a:ext cx="1212205" cy="252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Link Portofolio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team identity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2064" y="1196700"/>
            <a:ext cx="6062362" cy="155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Executive Summary Project</a:t>
            </a:r>
          </a:p>
          <a:p>
            <a:pPr algn="just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ringkasan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eksekutif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Anda,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mendukung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tema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Hackathon,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dapat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memberikan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positif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ekonomi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digital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lanskap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keuangan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Indonesia.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Pastikan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untuk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menyertakan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problem statement yang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coba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jawab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inovatif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732064" y="2821909"/>
            <a:ext cx="6071936" cy="3163456"/>
            <a:chOff x="0" y="0"/>
            <a:chExt cx="1700035" cy="8857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00035" cy="885712"/>
            </a:xfrm>
            <a:custGeom>
              <a:avLst/>
              <a:gdLst/>
              <a:ahLst/>
              <a:cxnLst/>
              <a:rect l="l" t="t" r="r" b="b"/>
              <a:pathLst>
                <a:path w="1700035" h="885712">
                  <a:moveTo>
                    <a:pt x="0" y="0"/>
                  </a:moveTo>
                  <a:lnTo>
                    <a:pt x="1700035" y="0"/>
                  </a:lnTo>
                  <a:lnTo>
                    <a:pt x="1700035" y="885712"/>
                  </a:lnTo>
                  <a:lnTo>
                    <a:pt x="0" y="8857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menjawab</a:t>
              </a:r>
              <a:r>
                <a:rPr lang="en-US" sz="1200" dirty="0">
                  <a:latin typeface="Arial Rounded MT Bold" panose="020F0704030504030204" pitchFamily="34" charset="0"/>
                </a:rPr>
                <a:t> Problem Statement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Digitalisasi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Ketahanan</a:t>
              </a:r>
              <a:r>
                <a:rPr lang="en-US" sz="1200" dirty="0">
                  <a:latin typeface="Arial Rounded MT Bold" panose="020F0704030504030204" pitchFamily="34" charset="0"/>
                </a:rPr>
                <a:t> Pangan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solusi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hibrida</a:t>
              </a:r>
              <a:r>
                <a:rPr lang="en-US" sz="1200" dirty="0">
                  <a:latin typeface="Arial Rounded MT Bold" panose="020F0704030504030204" pitchFamily="34" charset="0"/>
                </a:rPr>
                <a:t> AI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prediktif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tokenisasi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berbasis</a:t>
              </a:r>
              <a:r>
                <a:rPr lang="en-US" sz="1200" dirty="0">
                  <a:latin typeface="Arial Rounded MT Bold" panose="020F0704030504030204" pitchFamily="34" charset="0"/>
                </a:rPr>
                <a:t> Blockchain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jaminan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. Proyek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mendukung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tema</a:t>
              </a:r>
              <a:r>
                <a:rPr lang="en-US" sz="1200" dirty="0">
                  <a:latin typeface="Arial Rounded MT Bold" panose="020F0704030504030204" pitchFamily="34" charset="0"/>
                </a:rPr>
                <a:t> Hackathon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dalam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inovasi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cerdas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pemantauan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penajaman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subsidi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Dampak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positifnya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meliputi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pemangkasan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perluasan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insentif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Likuiditas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Makroprudensial</a:t>
              </a:r>
              <a:r>
                <a:rPr lang="en-US" sz="1200" dirty="0">
                  <a:latin typeface="Arial Rounded MT Bold" panose="020F0704030504030204" pitchFamily="34" charset="0"/>
                </a:rPr>
                <a:t> (KLM) BI,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kesiapan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interkoneksi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Rupiah Digital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memperkuat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ekosistem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keuangan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inklusif</a:t>
              </a:r>
              <a:r>
                <a:rPr lang="en-US" sz="1200" dirty="0">
                  <a:latin typeface="Arial Rounded MT Bold" panose="020F0704030504030204" pitchFamily="34" charset="0"/>
                </a:rPr>
                <a:t> Indonesia.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700035" cy="91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932044"/>
            <a:ext cx="6048000" cy="607949"/>
            <a:chOff x="0" y="0"/>
            <a:chExt cx="1693333" cy="170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3333" cy="170215"/>
            </a:xfrm>
            <a:custGeom>
              <a:avLst/>
              <a:gdLst/>
              <a:ahLst/>
              <a:cxnLst/>
              <a:rect l="l" t="t" r="r" b="b"/>
              <a:pathLst>
                <a:path w="1693333" h="170215">
                  <a:moveTo>
                    <a:pt x="0" y="0"/>
                  </a:moveTo>
                  <a:lnTo>
                    <a:pt x="1693333" y="0"/>
                  </a:lnTo>
                  <a:lnTo>
                    <a:pt x="1693333" y="170215"/>
                  </a:lnTo>
                  <a:lnTo>
                    <a:pt x="0" y="170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 err="1">
                  <a:latin typeface="Arial Rounded MT Bold" panose="020F0704030504030204" pitchFamily="34" charset="0"/>
                </a:rPr>
                <a:t>Digitalisasi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Ketahanan</a:t>
              </a:r>
              <a:r>
                <a:rPr lang="en-US" sz="1200" dirty="0">
                  <a:latin typeface="Arial Rounded MT Bold" panose="020F0704030504030204" pitchFamily="34" charset="0"/>
                </a:rPr>
                <a:t> Pangan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93333" cy="198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6000" y="3153453"/>
            <a:ext cx="6048000" cy="855599"/>
            <a:chOff x="0" y="0"/>
            <a:chExt cx="1693333" cy="2395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239553"/>
            </a:xfrm>
            <a:custGeom>
              <a:avLst/>
              <a:gdLst/>
              <a:ahLst/>
              <a:cxnLst/>
              <a:rect l="l" t="t" r="r" b="b"/>
              <a:pathLst>
                <a:path w="1693333" h="239553">
                  <a:moveTo>
                    <a:pt x="0" y="0"/>
                  </a:moveTo>
                  <a:lnTo>
                    <a:pt x="1693333" y="0"/>
                  </a:lnTo>
                  <a:lnTo>
                    <a:pt x="1693333" y="239553"/>
                  </a:lnTo>
                  <a:lnTo>
                    <a:pt x="0" y="2395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Logistik Pangan Cerdas,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Pemantauan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Penajaman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Sasaran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Subsidi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268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4809786"/>
            <a:ext cx="6048000" cy="4075049"/>
            <a:chOff x="0" y="0"/>
            <a:chExt cx="1693333" cy="11409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1140942"/>
            </a:xfrm>
            <a:custGeom>
              <a:avLst/>
              <a:gdLst/>
              <a:ahLst/>
              <a:cxnLst/>
              <a:rect l="l" t="t" r="r" b="b"/>
              <a:pathLst>
                <a:path w="1693333" h="1140942">
                  <a:moveTo>
                    <a:pt x="0" y="0"/>
                  </a:moveTo>
                  <a:lnTo>
                    <a:pt x="1693333" y="0"/>
                  </a:lnTo>
                  <a:lnTo>
                    <a:pt x="1693333" y="1140942"/>
                  </a:lnTo>
                  <a:lnTo>
                    <a:pt x="0" y="11409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 fontAlgn="base"/>
              <a:r>
                <a:rPr lang="en-US" sz="1200" dirty="0">
                  <a:latin typeface="Arial Rounded MT Bold" panose="020F0704030504030204" pitchFamily="34" charset="0"/>
                </a:rPr>
                <a:t>Tujuan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utama</a:t>
              </a:r>
              <a:r>
                <a:rPr lang="en-US" sz="1200" dirty="0">
                  <a:latin typeface="Arial Rounded MT Bold" panose="020F0704030504030204" pitchFamily="34" charset="0"/>
                </a:rPr>
                <a:t> 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adalah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membangun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ekosistem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ketahanan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transparan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inklusif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tiga</a:t>
              </a:r>
              <a:r>
                <a:rPr lang="en-US" sz="1200" dirty="0">
                  <a:latin typeface="Arial Rounded MT Bold" panose="020F0704030504030204" pitchFamily="34" charset="0"/>
                </a:rPr>
                <a:t> target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spesifik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</a:p>
            <a:p>
              <a:pPr marL="171450" indent="-171450" algn="just" fontAlgn="base">
                <a:buFontTx/>
                <a:buChar char="-"/>
              </a:pPr>
              <a:r>
                <a:rPr lang="en-US" sz="1200" dirty="0" err="1">
                  <a:latin typeface="Arial Rounded MT Bold" panose="020F0704030504030204" pitchFamily="34" charset="0"/>
                </a:rPr>
                <a:t>Optimalisasi</a:t>
              </a:r>
              <a:r>
                <a:rPr lang="en-US" sz="1200" dirty="0">
                  <a:latin typeface="Arial Rounded MT Bold" panose="020F0704030504030204" pitchFamily="34" charset="0"/>
                </a:rPr>
                <a:t> Logistik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Rantai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Pasok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Mereduksi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nasional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dirty="0">
                  <a:latin typeface="Arial Rounded MT Bold" panose="020F0704030504030204" pitchFamily="34" charset="0"/>
                </a:rPr>
                <a:t> 20%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optimasi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armada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dinamis</a:t>
              </a:r>
              <a:r>
                <a:rPr lang="en-US" sz="1200" dirty="0">
                  <a:latin typeface="Arial Rounded MT Bold" panose="020F0704030504030204" pitchFamily="34" charset="0"/>
                </a:rPr>
                <a:t> (AI),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mencegah</a:t>
              </a:r>
              <a:r>
                <a:rPr lang="en-US" sz="1200" dirty="0">
                  <a:latin typeface="Arial Rounded MT Bold" panose="020F0704030504030204" pitchFamily="34" charset="0"/>
                </a:rPr>
                <a:t> mismatch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pasokan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lewat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visibilitas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stok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antarwilayah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</a:p>
            <a:p>
              <a:pPr marL="171450" indent="-171450" algn="just" fontAlgn="base">
                <a:buFontTx/>
                <a:buChar char="-"/>
              </a:pPr>
              <a:r>
                <a:rPr lang="en-US" sz="1200" dirty="0" err="1">
                  <a:latin typeface="Arial Rounded MT Bold" panose="020F0704030504030204" pitchFamily="34" charset="0"/>
                </a:rPr>
                <a:t>Akselerasi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Inklusi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Keuangan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Memperluas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pencatatan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dirty="0">
                  <a:latin typeface="Arial Rounded MT Bold" panose="020F0704030504030204" pitchFamily="34" charset="0"/>
                </a:rPr>
                <a:t> yang immutable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jaringan</a:t>
              </a:r>
              <a:r>
                <a:rPr lang="en-US" sz="1200" dirty="0">
                  <a:latin typeface="Arial Rounded MT Bold" panose="020F0704030504030204" pitchFamily="34" charset="0"/>
                </a:rPr>
                <a:t> Blockchain,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basis Alternative Credit Scoring (ACS)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</a:p>
            <a:p>
              <a:pPr marL="171450" indent="-171450" algn="just" fontAlgn="base">
                <a:buFontTx/>
                <a:buChar char="-"/>
              </a:pPr>
              <a:r>
                <a:rPr lang="en-US" sz="1200" dirty="0" err="1">
                  <a:latin typeface="Arial Rounded MT Bold" panose="020F0704030504030204" pitchFamily="34" charset="0"/>
                </a:rPr>
                <a:t>Stabilitas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Harga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Pengendalian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Mendukung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efektivitas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intervensi</a:t>
              </a:r>
              <a:r>
                <a:rPr lang="en-US" sz="1200" dirty="0">
                  <a:latin typeface="Arial Rounded MT Bold" panose="020F0704030504030204" pitchFamily="34" charset="0"/>
                </a:rPr>
                <a:t> pasar oleh regulator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lapangan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PIHPS,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memastikan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presisi</a:t>
              </a:r>
              <a:r>
                <a:rPr lang="en-US" sz="1200" dirty="0">
                  <a:latin typeface="Arial Rounded MT Bold" panose="020F0704030504030204" pitchFamily="34" charset="0"/>
                </a:rPr>
                <a:t> dan real-time.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1169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statement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2500" y="1663098"/>
            <a:ext cx="2488850" cy="206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  <a:spcBef>
                <a:spcPct val="0"/>
              </a:spcBef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Problem Statement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Dipilih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56000" y="2667043"/>
            <a:ext cx="2485350" cy="3791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Sub-Problem Statement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Acuan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boleh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lebih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satu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6000" y="4132877"/>
            <a:ext cx="4927250" cy="5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Tujuan Utama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tujuan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target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spesifik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ingin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dicapai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800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000" y="1264524"/>
            <a:ext cx="4605635" cy="210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Silakan cek halaman 0 untuk penulisan Problem Statement yang sesuai.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927709"/>
            <a:ext cx="6048000" cy="4817999"/>
            <a:chOff x="0" y="0"/>
            <a:chExt cx="1693333" cy="1348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3333" cy="1348955"/>
            </a:xfrm>
            <a:custGeom>
              <a:avLst/>
              <a:gdLst/>
              <a:ahLst/>
              <a:cxnLst/>
              <a:rect l="l" t="t" r="r" b="b"/>
              <a:pathLst>
                <a:path w="1693333" h="1348955">
                  <a:moveTo>
                    <a:pt x="0" y="0"/>
                  </a:moveTo>
                  <a:lnTo>
                    <a:pt x="1693333" y="0"/>
                  </a:lnTo>
                  <a:lnTo>
                    <a:pt x="1693333" y="1348955"/>
                  </a:lnTo>
                  <a:lnTo>
                    <a:pt x="0" y="13489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Sektor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ketahanan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Indonesia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menghadapi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masalah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asimetri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spesifik</a:t>
              </a:r>
              <a:r>
                <a:rPr lang="en-US" sz="1200" dirty="0">
                  <a:latin typeface="Arial Rounded MT Bold" panose="020F0704030504030204" pitchFamily="34" charset="0"/>
                </a:rPr>
                <a:t>: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1.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Inkonsistensi</a:t>
              </a:r>
              <a:r>
                <a:rPr lang="en-US" sz="1200" dirty="0">
                  <a:latin typeface="Arial Rounded MT Bold" panose="020F0704030504030204" pitchFamily="34" charset="0"/>
                </a:rPr>
                <a:t> Harga &amp; Logistik: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terjebak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rendah</a:t>
              </a:r>
              <a:r>
                <a:rPr lang="en-US" sz="1200" dirty="0">
                  <a:latin typeface="Arial Rounded MT Bold" panose="020F0704030504030204" pitchFamily="34" charset="0"/>
                </a:rPr>
                <a:t>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tingkat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produsen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akibat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ketidaktahuan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permintaan</a:t>
              </a:r>
              <a:r>
                <a:rPr lang="en-US" sz="1200" dirty="0">
                  <a:latin typeface="Arial Rounded MT Bold" panose="020F0704030504030204" pitchFamily="34" charset="0"/>
                </a:rPr>
                <a:t> real-time,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sementara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konsumen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menanggung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tinggi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akibat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tidak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terstandarisasi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antarwilayah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2.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Kesenjangan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(Credit Gap):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pertanian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terhambat</a:t>
              </a:r>
              <a:r>
                <a:rPr lang="en-US" sz="1200" dirty="0">
                  <a:latin typeface="Arial Rounded MT Bold" panose="020F0704030504030204" pitchFamily="34" charset="0"/>
                </a:rPr>
                <a:t> oleh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sulitnya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memverifikasi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arus</a:t>
              </a:r>
              <a:r>
                <a:rPr lang="en-US" sz="1200" dirty="0">
                  <a:latin typeface="Arial Rounded MT Bold" panose="020F0704030504030204" pitchFamily="34" charset="0"/>
                </a:rPr>
                <a:t> kas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validitas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akurat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Kondisi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tercermin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kontraksi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UMKM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sebesar</a:t>
              </a:r>
              <a:r>
                <a:rPr lang="en-US" sz="1200" dirty="0">
                  <a:latin typeface="Arial Rounded MT Bold" panose="020F0704030504030204" pitchFamily="34" charset="0"/>
                </a:rPr>
                <a:t> 0,11% (Oktober 2025),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memperlebar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celah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pendanaan</a:t>
              </a:r>
              <a:r>
                <a:rPr lang="en-US" sz="1200" dirty="0">
                  <a:latin typeface="Arial Rounded MT Bold" panose="020F0704030504030204" pitchFamily="34" charset="0"/>
                </a:rPr>
                <a:t>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sektor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3.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Fragmentasi</a:t>
              </a:r>
              <a:r>
                <a:rPr lang="en-US" sz="1200" dirty="0">
                  <a:latin typeface="Arial Rounded MT Bold" panose="020F0704030504030204" pitchFamily="34" charset="0"/>
                </a:rPr>
                <a:t> Data Regulator: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terfragmentasi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mengakibatkan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subsidi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intervensi</a:t>
              </a:r>
              <a:r>
                <a:rPr lang="en-US" sz="1200" dirty="0">
                  <a:latin typeface="Arial Rounded MT Bold" panose="020F0704030504030204" pitchFamily="34" charset="0"/>
                </a:rPr>
                <a:t> pasar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seringkali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tidak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tepat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sasaran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Akibatnya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volatilitas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(volatile foods)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menjadi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kontributor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utama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nasional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sulit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dikendalikan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presisi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93333" cy="137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definition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6000" y="1254999"/>
            <a:ext cx="2565050" cy="5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 Masalah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Utamanya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Masalah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harus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spesifik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umum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1000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425" y="7546443"/>
            <a:ext cx="6048000" cy="2341499"/>
            <a:chOff x="0" y="0"/>
            <a:chExt cx="1693333" cy="6555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655578"/>
            </a:xfrm>
            <a:custGeom>
              <a:avLst/>
              <a:gdLst/>
              <a:ahLst/>
              <a:cxnLst/>
              <a:rect l="l" t="t" r="r" b="b"/>
              <a:pathLst>
                <a:path w="1693333" h="655578">
                  <a:moveTo>
                    <a:pt x="0" y="0"/>
                  </a:moveTo>
                  <a:lnTo>
                    <a:pt x="1693333" y="0"/>
                  </a:lnTo>
                  <a:lnTo>
                    <a:pt x="1693333" y="655578"/>
                  </a:lnTo>
                  <a:lnTo>
                    <a:pt x="0" y="65557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 fontAlgn="base"/>
              <a:r>
                <a:rPr lang="en-US" sz="1200" b="1" dirty="0">
                  <a:latin typeface="Arial Rounded MT Bold" panose="020F0704030504030204" pitchFamily="34" charset="0"/>
                </a:rPr>
                <a:t>- 62,9 Juta UMKM &amp;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Menanggung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gagal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bayar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keterbatasan</a:t>
              </a:r>
              <a:r>
                <a:rPr lang="en-US" sz="1200" dirty="0">
                  <a:latin typeface="Arial Rounded MT Bold" panose="020F0704030504030204" pitchFamily="34" charset="0"/>
                </a:rPr>
                <a:t> modal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kerja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akibat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ketiadaan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digital.</a:t>
              </a:r>
            </a:p>
            <a:p>
              <a:pPr algn="just" fontAlgn="base"/>
              <a:r>
                <a:rPr lang="en-US" sz="1200" b="1" dirty="0">
                  <a:latin typeface="Arial Rounded MT Bold" panose="020F0704030504030204" pitchFamily="34" charset="0"/>
                </a:rPr>
                <a:t>- Lembaga Jasa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Keuangan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(LJK)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Kesulitan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dalam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mengidentifikasi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sektor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prioritas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KLM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Likuiditas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Makroprudensial</a:t>
              </a:r>
              <a:r>
                <a:rPr lang="en-US" sz="1200" dirty="0">
                  <a:latin typeface="Arial Rounded MT Bold" panose="020F0704030504030204" pitchFamily="34" charset="0"/>
                </a:rPr>
                <a:t>)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ditargetkan</a:t>
              </a:r>
              <a:r>
                <a:rPr lang="en-US" sz="1200" dirty="0">
                  <a:latin typeface="Arial Rounded MT Bold" panose="020F0704030504030204" pitchFamily="34" charset="0"/>
                </a:rPr>
                <a:t> BI.</a:t>
              </a:r>
            </a:p>
            <a:p>
              <a:pPr algn="just"/>
              <a:r>
                <a:rPr lang="en-US" sz="1200" b="1" dirty="0">
                  <a:latin typeface="Arial Rounded MT Bold" panose="020F0704030504030204" pitchFamily="34" charset="0"/>
                </a:rPr>
                <a:t>- Masyarakat Luas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Tertekan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belinya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akibat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kenaikan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pokok</a:t>
              </a:r>
              <a:r>
                <a:rPr lang="en-US" sz="1200" dirty="0">
                  <a:latin typeface="Arial Rounded MT Bold" panose="020F0704030504030204" pitchFamily="34" charset="0"/>
                </a:rPr>
                <a:t> (Beras,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Cabai</a:t>
              </a:r>
              <a:r>
                <a:rPr lang="en-US" sz="1200" dirty="0">
                  <a:latin typeface="Arial Rounded MT Bold" panose="020F0704030504030204" pitchFamily="34" charset="0"/>
                </a:rPr>
                <a:t>, Bawang).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684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46425" y="6873733"/>
            <a:ext cx="6057575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Siapa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Terdampak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Seberapa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Besar?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Siapa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/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institusi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/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industri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terdampak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3356548"/>
            <a:ext cx="6048000" cy="4446403"/>
            <a:chOff x="-4021" y="-28575"/>
            <a:chExt cx="1693333" cy="1244915"/>
          </a:xfrm>
        </p:grpSpPr>
        <p:sp>
          <p:nvSpPr>
            <p:cNvPr id="3" name="Freeform 3"/>
            <p:cNvSpPr/>
            <p:nvPr/>
          </p:nvSpPr>
          <p:spPr>
            <a:xfrm>
              <a:off x="-4021" y="6060"/>
              <a:ext cx="1689312" cy="1210280"/>
            </a:xfrm>
            <a:custGeom>
              <a:avLst/>
              <a:gdLst/>
              <a:ahLst/>
              <a:cxnLst/>
              <a:rect l="l" t="t" r="r" b="b"/>
              <a:pathLst>
                <a:path w="1689312" h="1210280">
                  <a:moveTo>
                    <a:pt x="0" y="0"/>
                  </a:moveTo>
                  <a:lnTo>
                    <a:pt x="1689312" y="0"/>
                  </a:lnTo>
                  <a:lnTo>
                    <a:pt x="1689312" y="1210280"/>
                  </a:lnTo>
                  <a:lnTo>
                    <a:pt x="0" y="12102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Disparitas</a:t>
              </a:r>
              <a:r>
                <a:rPr lang="en-US" sz="1200" dirty="0">
                  <a:latin typeface="Arial Rounded MT Bold" panose="020F0704030504030204" pitchFamily="34" charset="0"/>
                </a:rPr>
                <a:t> Harga: Data PIHPS (Maret)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menunjukkan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lonjakan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Cabai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Rawit</a:t>
              </a:r>
              <a:r>
                <a:rPr lang="en-US" sz="1200" b="1" dirty="0">
                  <a:latin typeface="Arial Rounded MT Bold" panose="020F0704030504030204" pitchFamily="34" charset="0"/>
                </a:rPr>
                <a:t> Merah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b="1" dirty="0">
                  <a:latin typeface="Arial Rounded MT Bold" panose="020F0704030504030204" pitchFamily="34" charset="0"/>
                </a:rPr>
                <a:t> Rp82.300/kg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akibat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rantai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distribusi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panjang</a:t>
              </a:r>
              <a:r>
                <a:rPr lang="en-US" sz="1200" b="1" dirty="0">
                  <a:latin typeface="Arial Rounded MT Bold" panose="020F0704030504030204" pitchFamily="34" charset="0"/>
                </a:rPr>
                <a:t> dan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faktor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cuaca</a:t>
              </a:r>
              <a:r>
                <a:rPr lang="en-US" sz="1200" b="1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Struktural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Bappenas</a:t>
              </a:r>
              <a:r>
                <a:rPr lang="en-US" sz="1200" dirty="0">
                  <a:latin typeface="Arial Rounded MT Bold" panose="020F0704030504030204" pitchFamily="34" charset="0"/>
                </a:rPr>
                <a:t>/CIPS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mencatat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mencapai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23% PDB)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membebani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20%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jual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akhir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komoditas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Tekanan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Februari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melonjak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ke</a:t>
              </a:r>
              <a:r>
                <a:rPr lang="en-US" sz="1200" b="1" dirty="0">
                  <a:latin typeface="Arial Rounded MT Bold" panose="020F0704030504030204" pitchFamily="34" charset="0"/>
                </a:rPr>
                <a:t> 4,76% (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yoy</a:t>
              </a:r>
              <a:r>
                <a:rPr lang="en-US" sz="1200" b="1" dirty="0">
                  <a:latin typeface="Arial Rounded MT Bold" panose="020F0704030504030204" pitchFamily="34" charset="0"/>
                </a:rPr>
                <a:t>),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dipicu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kelompok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bahan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makanan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(volatile foods)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berdasarkan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Tinjauan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Moneter</a:t>
              </a:r>
              <a:r>
                <a:rPr lang="en-US" sz="1200" dirty="0">
                  <a:latin typeface="Arial Rounded MT Bold" panose="020F0704030504030204" pitchFamily="34" charset="0"/>
                </a:rPr>
                <a:t> BI.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Hambatan</a:t>
              </a:r>
              <a:r>
                <a:rPr lang="en-US" sz="1200" dirty="0">
                  <a:latin typeface="Arial Rounded MT Bold" panose="020F0704030504030204" pitchFamily="34" charset="0"/>
                </a:rPr>
                <a:t> Modal: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Siaran</a:t>
              </a:r>
              <a:r>
                <a:rPr lang="en-US" sz="1200" dirty="0">
                  <a:latin typeface="Arial Rounded MT Bold" panose="020F0704030504030204" pitchFamily="34" charset="0"/>
                </a:rPr>
                <a:t> Pers OJK (SP 227/2025)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mencatat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kontraksi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b="1" dirty="0">
                  <a:latin typeface="Arial Rounded MT Bold" panose="020F0704030504030204" pitchFamily="34" charset="0"/>
                </a:rPr>
                <a:t> UMKM 0,11%,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mengonfirmasi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kesulitan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pendanaan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Kesenjangan</a:t>
              </a:r>
              <a:r>
                <a:rPr lang="en-US" sz="1200" dirty="0">
                  <a:latin typeface="Arial Rounded MT Bold" panose="020F0704030504030204" pitchFamily="34" charset="0"/>
                </a:rPr>
                <a:t> Akses: SNLIK 2024/2025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menunjukkan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>
                  <a:latin typeface="Arial Rounded MT Bold" panose="020F0704030504030204" pitchFamily="34" charset="0"/>
                </a:rPr>
                <a:t>gap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inklusi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keuangan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signifikan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antara</a:t>
              </a:r>
              <a:r>
                <a:rPr lang="en-US" sz="1200" b="1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Perdesaan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(75,70%) vs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Perkotaan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(83,61%)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menghambat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adopsi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89312" cy="1238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Problem definition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6425" y="2785898"/>
            <a:ext cx="3870025" cy="571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Bukti Masalah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Data,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laporan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observasi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regulasi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atau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pengalaman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nyata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800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56000" y="1312149"/>
            <a:ext cx="6048000" cy="1350899"/>
            <a:chOff x="0" y="0"/>
            <a:chExt cx="1693333" cy="3782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378228"/>
            </a:xfrm>
            <a:custGeom>
              <a:avLst/>
              <a:gdLst/>
              <a:ahLst/>
              <a:cxnLst/>
              <a:rect l="l" t="t" r="r" b="b"/>
              <a:pathLst>
                <a:path w="1693333" h="378228">
                  <a:moveTo>
                    <a:pt x="0" y="0"/>
                  </a:moveTo>
                  <a:lnTo>
                    <a:pt x="1693333" y="0"/>
                  </a:lnTo>
                  <a:lnTo>
                    <a:pt x="1693333" y="378228"/>
                  </a:lnTo>
                  <a:lnTo>
                    <a:pt x="0" y="3782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 err="1">
                  <a:latin typeface="Arial Rounded MT Bold" panose="020F0704030504030204" pitchFamily="34" charset="0"/>
                </a:rPr>
                <a:t>Asimetri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menyebabkan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disparitas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antarwilayah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rendahnya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seringkali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terpaksa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menjual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hasil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rendah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karena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tidak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memiliki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data pasar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riil</a:t>
              </a:r>
              <a:r>
                <a:rPr lang="en-US" sz="1200" dirty="0">
                  <a:latin typeface="Arial Rounded MT Bold" panose="020F0704030504030204" pitchFamily="34" charset="0"/>
                </a:rPr>
                <a:t>.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sisi</a:t>
              </a:r>
              <a:r>
                <a:rPr lang="en-US" sz="1200" dirty="0">
                  <a:latin typeface="Arial Rounded MT Bold" panose="020F0704030504030204" pitchFamily="34" charset="0"/>
                </a:rPr>
                <a:t> lain,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catatan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terverifikasi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lembaga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sulit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memvalidasi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arus</a:t>
              </a:r>
              <a:r>
                <a:rPr lang="en-US" sz="1200" dirty="0">
                  <a:latin typeface="Arial Rounded MT Bold" panose="020F0704030504030204" pitchFamily="34" charset="0"/>
                </a:rPr>
                <a:t> kas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agunan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fisik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40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proposed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 Inti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Deskripsikan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secara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umum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ajukan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bekerja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4570349"/>
            <a:chOff x="0" y="0"/>
            <a:chExt cx="1681156" cy="12796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279617"/>
            </a:xfrm>
            <a:custGeom>
              <a:avLst/>
              <a:gdLst/>
              <a:ahLst/>
              <a:cxnLst/>
              <a:rect l="l" t="t" r="r" b="b"/>
              <a:pathLst>
                <a:path w="1681156" h="1279617">
                  <a:moveTo>
                    <a:pt x="0" y="0"/>
                  </a:moveTo>
                  <a:lnTo>
                    <a:pt x="1681156" y="0"/>
                  </a:lnTo>
                  <a:lnTo>
                    <a:pt x="1681156" y="1279617"/>
                  </a:lnTo>
                  <a:lnTo>
                    <a:pt x="0" y="1279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adalah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middleware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Hybrid Intelligence.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Lapisan</a:t>
              </a:r>
              <a:r>
                <a:rPr lang="en-US" sz="1200" dirty="0">
                  <a:latin typeface="Arial Rounded MT Bold" panose="020F0704030504030204" pitchFamily="34" charset="0"/>
                </a:rPr>
                <a:t> AI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memproses</a:t>
              </a:r>
              <a:r>
                <a:rPr lang="en-US" sz="1200" dirty="0">
                  <a:latin typeface="Arial Rounded MT Bold" panose="020F0704030504030204" pitchFamily="34" charset="0"/>
                </a:rPr>
                <a:t> data API PIHPS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menyajikan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prediksi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pasar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adil</a:t>
              </a:r>
              <a:r>
                <a:rPr lang="en-US" sz="1200" dirty="0">
                  <a:latin typeface="Arial Rounded MT Bold" panose="020F0704030504030204" pitchFamily="34" charset="0"/>
                </a:rPr>
                <a:t>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menghapus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asimetri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),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menganalisis</a:t>
              </a:r>
              <a:r>
                <a:rPr lang="en-US" sz="1200" dirty="0">
                  <a:latin typeface="Arial Rounded MT Bold" panose="020F0704030504030204" pitchFamily="34" charset="0"/>
                </a:rPr>
                <a:t> sensor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optimasi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termurah</a:t>
              </a:r>
              <a:r>
                <a:rPr lang="en-US" sz="1200" dirty="0">
                  <a:latin typeface="Arial Rounded MT Bold" panose="020F0704030504030204" pitchFamily="34" charset="0"/>
                </a:rPr>
                <a:t>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memangkas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20%.</a:t>
              </a:r>
            </a:p>
            <a:p>
              <a:pPr algn="just"/>
              <a:r>
                <a:rPr lang="en-US" sz="1200" dirty="0" err="1">
                  <a:latin typeface="Arial Rounded MT Bold" panose="020F0704030504030204" pitchFamily="34" charset="0"/>
                </a:rPr>
                <a:t>Jaringan</a:t>
              </a:r>
              <a:r>
                <a:rPr lang="en-US" sz="1200" dirty="0">
                  <a:latin typeface="Arial Rounded MT Bold" panose="020F0704030504030204" pitchFamily="34" charset="0"/>
                </a:rPr>
                <a:t> Blockchain Hyperledger Besu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mencatat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riwayat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mutlak</a:t>
              </a:r>
              <a:r>
                <a:rPr lang="en-US" sz="1200" dirty="0">
                  <a:latin typeface="Arial Rounded MT Bold" panose="020F0704030504030204" pitchFamily="34" charset="0"/>
                </a:rPr>
                <a:t> (immutable). Platform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menerbitkan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sertifikat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jaminan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semu</a:t>
              </a:r>
              <a:r>
                <a:rPr lang="en-US" sz="1200" dirty="0">
                  <a:latin typeface="Arial Rounded MT Bold" panose="020F0704030504030204" pitchFamily="34" charset="0"/>
                </a:rPr>
                <a:t> (quasi-collateral).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Open API SNAP, bank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mitra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dapat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memvalidasi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tersebut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real-time,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sehingga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agunan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fisik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menjadi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lebih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cepat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aman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tepat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sasaran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mendukung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Likuiditas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Makroprudensial</a:t>
              </a:r>
              <a:r>
                <a:rPr lang="en-US" sz="1200" dirty="0">
                  <a:latin typeface="Arial Rounded MT Bold" panose="020F0704030504030204" pitchFamily="34" charset="0"/>
                </a:rPr>
                <a:t> (KLM).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308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6626083"/>
            <a:ext cx="5946651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Gambar / Ilustrasi / Skema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(jika ada)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000" y="7112493"/>
            <a:ext cx="6048000" cy="2823507"/>
            <a:chOff x="0" y="0"/>
            <a:chExt cx="1693333" cy="7905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790532"/>
            </a:xfrm>
            <a:custGeom>
              <a:avLst/>
              <a:gdLst/>
              <a:ahLst/>
              <a:cxnLst/>
              <a:rect l="l" t="t" r="r" b="b"/>
              <a:pathLst>
                <a:path w="1693333" h="790532">
                  <a:moveTo>
                    <a:pt x="0" y="0"/>
                  </a:moveTo>
                  <a:lnTo>
                    <a:pt x="1693333" y="0"/>
                  </a:lnTo>
                  <a:lnTo>
                    <a:pt x="1693333" y="790532"/>
                  </a:lnTo>
                  <a:lnTo>
                    <a:pt x="0" y="7905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819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proposed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Bekerja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proses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input → proses → output.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5739" y="10159188"/>
            <a:ext cx="12868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825649"/>
            <a:ext cx="6004506" cy="4672409"/>
            <a:chOff x="0" y="-28575"/>
            <a:chExt cx="1681156" cy="1308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279617"/>
            </a:xfrm>
            <a:custGeom>
              <a:avLst/>
              <a:gdLst/>
              <a:ahLst/>
              <a:cxnLst/>
              <a:rect l="l" t="t" r="r" b="b"/>
              <a:pathLst>
                <a:path w="1681156" h="1279617">
                  <a:moveTo>
                    <a:pt x="0" y="0"/>
                  </a:moveTo>
                  <a:lnTo>
                    <a:pt x="1681156" y="0"/>
                  </a:lnTo>
                  <a:lnTo>
                    <a:pt x="1681156" y="1279617"/>
                  </a:lnTo>
                  <a:lnTo>
                    <a:pt x="0" y="12796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171450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Input: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otomatis</a:t>
              </a:r>
              <a:r>
                <a:rPr lang="en-US" sz="1200" dirty="0">
                  <a:latin typeface="Arial Rounded MT Bold" panose="020F0704030504030204" pitchFamily="34" charset="0"/>
                </a:rPr>
                <a:t> API PIHPS Nasional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harian</a:t>
              </a:r>
              <a:r>
                <a:rPr lang="en-US" sz="1200" dirty="0">
                  <a:latin typeface="Arial Rounded MT Bold" panose="020F0704030504030204" pitchFamily="34" charset="0"/>
                </a:rPr>
                <a:t>), input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aplikasi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seluler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, dan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telematika</a:t>
              </a:r>
              <a:r>
                <a:rPr lang="en-US" sz="1200" dirty="0">
                  <a:latin typeface="Arial Rounded MT Bold" panose="020F0704030504030204" pitchFamily="34" charset="0"/>
                </a:rPr>
                <a:t>/sensor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pelacakan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lokasi</a:t>
              </a:r>
              <a:r>
                <a:rPr lang="en-US" sz="1200" dirty="0">
                  <a:latin typeface="Arial Rounded MT Bold" panose="020F0704030504030204" pitchFamily="34" charset="0"/>
                </a:rPr>
                <a:t> armada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171450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Proses:</a:t>
              </a:r>
            </a:p>
            <a:p>
              <a:pPr marL="628650" lvl="1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AI Layer: Model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XGBoost</a:t>
              </a:r>
              <a:r>
                <a:rPr lang="en-US" sz="1200" dirty="0">
                  <a:latin typeface="Arial Rounded MT Bold" panose="020F0704030504030204" pitchFamily="34" charset="0"/>
                </a:rPr>
                <a:t>-LSTM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memprediksi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7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depan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Algoritma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Genetika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menyusun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dasar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sementara</a:t>
              </a:r>
              <a:r>
                <a:rPr lang="en-US" sz="1200" dirty="0">
                  <a:latin typeface="Arial Rounded MT Bold" panose="020F0704030504030204" pitchFamily="34" charset="0"/>
                </a:rPr>
                <a:t> PPO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dipadukan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HSTE-GNN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memproses</a:t>
              </a:r>
              <a:r>
                <a:rPr lang="en-US" sz="1200" dirty="0">
                  <a:latin typeface="Arial Rounded MT Bold" panose="020F0704030504030204" pitchFamily="34" charset="0"/>
                </a:rPr>
                <a:t> data sensor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navigasi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dinamis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menghindari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kemacetan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628650" lvl="1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Blockchain Layer: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dicatat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mutlak</a:t>
              </a:r>
              <a:r>
                <a:rPr lang="en-US" sz="1200" dirty="0">
                  <a:latin typeface="Arial Rounded MT Bold" panose="020F0704030504030204" pitchFamily="34" charset="0"/>
                </a:rPr>
                <a:t> (immutable) di Hyperledger Besu. Saat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barang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diterima</a:t>
              </a:r>
              <a:r>
                <a:rPr lang="en-US" sz="1200" dirty="0">
                  <a:latin typeface="Arial Rounded MT Bold" panose="020F0704030504030204" pitchFamily="34" charset="0"/>
                </a:rPr>
                <a:t>, Smart Contract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memicu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pembayaran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otomatis</a:t>
              </a:r>
              <a:r>
                <a:rPr lang="en-US" sz="1200" dirty="0">
                  <a:latin typeface="Arial Rounded MT Bold" panose="020F0704030504030204" pitchFamily="34" charset="0"/>
                </a:rPr>
                <a:t> via BI-FAST atau wholesale Rupiah Digital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wCBDC</a:t>
              </a:r>
              <a:r>
                <a:rPr lang="en-US" sz="1200" dirty="0">
                  <a:latin typeface="Arial Rounded MT Bold" panose="020F0704030504030204" pitchFamily="34" charset="0"/>
                </a:rPr>
                <a:t>).</a:t>
              </a:r>
            </a:p>
            <a:p>
              <a:pPr marL="628650" lvl="1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Compliance Engine: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Pengecekan</a:t>
              </a:r>
              <a:r>
                <a:rPr lang="en-US" sz="1200" dirty="0">
                  <a:latin typeface="Arial Rounded MT Bold" panose="020F0704030504030204" pitchFamily="34" charset="0"/>
                </a:rPr>
                <a:t> daftar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hitam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penipuan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otomatis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API IASC OJK.</a:t>
              </a:r>
            </a:p>
            <a:p>
              <a:pPr marL="171450" indent="-171450" algn="just" fontAlgn="base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Output: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Dasbor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pasar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adil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skor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instan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berbasis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bukti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valid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laporan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visibilitas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stok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regulator.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308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impact &amp; outcome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Manfaat Utama Jika Solusi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Diterapkan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perubahan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positif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diharapkan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industri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atau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masyarakat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800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6412" y="10159188"/>
            <a:ext cx="13801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4075049"/>
            <a:chOff x="0" y="0"/>
            <a:chExt cx="1681156" cy="11409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140942"/>
            </a:xfrm>
            <a:custGeom>
              <a:avLst/>
              <a:gdLst/>
              <a:ahLst/>
              <a:cxnLst/>
              <a:rect l="l" t="t" r="r" b="b"/>
              <a:pathLst>
                <a:path w="1681156" h="1140942">
                  <a:moveTo>
                    <a:pt x="0" y="0"/>
                  </a:moveTo>
                  <a:lnTo>
                    <a:pt x="1681156" y="0"/>
                  </a:lnTo>
                  <a:lnTo>
                    <a:pt x="1681156" y="1140942"/>
                  </a:lnTo>
                  <a:lnTo>
                    <a:pt x="0" y="11409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 err="1">
                  <a:latin typeface="Arial Rounded MT Bold" panose="020F0704030504030204" pitchFamily="34" charset="0"/>
                </a:rPr>
                <a:t>Implementasi</a:t>
              </a:r>
              <a:r>
                <a:rPr lang="en-US" sz="1200" dirty="0">
                  <a:latin typeface="Arial Rounded MT Bold" panose="020F0704030504030204" pitchFamily="34" charset="0"/>
                </a:rPr>
                <a:t> 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membawa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tiga</a:t>
              </a:r>
              <a:r>
                <a:rPr lang="en-US" sz="1200" dirty="0">
                  <a:latin typeface="Arial Rounded MT Bold" panose="020F0704030504030204" pitchFamily="34" charset="0"/>
                </a:rPr>
                <a:t> pilar.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Bagi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/UMKM,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solusi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memproyeksikan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kenaikan</a:t>
              </a:r>
              <a:r>
                <a:rPr lang="en-US" sz="1200" dirty="0">
                  <a:latin typeface="Arial Rounded MT Bold" panose="020F0704030504030204" pitchFamily="34" charset="0"/>
                </a:rPr>
                <a:t> margin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dirty="0">
                  <a:latin typeface="Arial Rounded MT Bold" panose="020F0704030504030204" pitchFamily="34" charset="0"/>
                </a:rPr>
                <a:t> 20%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dan LCT,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membuka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agunan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fisik</a:t>
              </a:r>
              <a:r>
                <a:rPr lang="en-US" sz="1200" dirty="0">
                  <a:latin typeface="Arial Rounded MT Bold" panose="020F0704030504030204" pitchFamily="34" charset="0"/>
                </a:rPr>
                <a:t> via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catatan</a:t>
              </a:r>
              <a:r>
                <a:rPr lang="en-US" sz="1200" dirty="0">
                  <a:latin typeface="Arial Rounded MT Bold" panose="020F0704030504030204" pitchFamily="34" charset="0"/>
                </a:rPr>
                <a:t> blockchain yang immutable.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Bagi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, platform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menyediakan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tervalidasi</a:t>
              </a:r>
              <a:r>
                <a:rPr lang="en-US" sz="1200" dirty="0">
                  <a:latin typeface="Arial Rounded MT Bold" panose="020F0704030504030204" pitchFamily="34" charset="0"/>
                </a:rPr>
                <a:t>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mempermudah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inklusif</a:t>
              </a:r>
              <a:r>
                <a:rPr lang="en-US" sz="1200" dirty="0">
                  <a:latin typeface="Arial Rounded MT Bold" panose="020F0704030504030204" pitchFamily="34" charset="0"/>
                </a:rPr>
                <a:t> demi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meraih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insentif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Likuiditas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Makroprudensial</a:t>
              </a:r>
              <a:r>
                <a:rPr lang="en-US" sz="1200" dirty="0">
                  <a:latin typeface="Arial Rounded MT Bold" panose="020F0704030504030204" pitchFamily="34" charset="0"/>
                </a:rPr>
                <a:t> (KLM) BI. </a:t>
              </a:r>
            </a:p>
            <a:p>
              <a:pPr marL="285750" indent="-285750" algn="just">
                <a:buFontTx/>
                <a:buChar char="-"/>
              </a:pPr>
              <a:r>
                <a:rPr lang="en-US" sz="1200" dirty="0">
                  <a:latin typeface="Arial Rounded MT Bold" panose="020F0704030504030204" pitchFamily="34" charset="0"/>
                </a:rPr>
                <a:t>Bagi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masyarakat</a:t>
              </a:r>
              <a:r>
                <a:rPr lang="en-US" sz="1200" dirty="0">
                  <a:latin typeface="Arial Rounded MT Bold" panose="020F0704030504030204" pitchFamily="34" charset="0"/>
                </a:rPr>
                <a:t> dan regulator, platform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menekan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(yang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selama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membebani</a:t>
              </a:r>
              <a:r>
                <a:rPr lang="en-US" sz="1200" dirty="0">
                  <a:latin typeface="Arial Rounded MT Bold" panose="020F0704030504030204" pitchFamily="34" charset="0"/>
                </a:rPr>
                <a:t> 20%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jual</a:t>
              </a:r>
              <a:r>
                <a:rPr lang="en-US" sz="1200" dirty="0">
                  <a:latin typeface="Arial Rounded MT Bold" panose="020F0704030504030204" pitchFamily="34" charset="0"/>
                </a:rPr>
                <a:t>)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menstabilkan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pokok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. Selain itu,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IASC OJK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keamanan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ekosistem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proaktif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ancaman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penipuan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169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99494" y="6140927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Jangka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Menengah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dampak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waktu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dekat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beberapa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bulan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/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tahun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depan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99494" y="6813637"/>
            <a:ext cx="6004506" cy="3122363"/>
            <a:chOff x="0" y="0"/>
            <a:chExt cx="1681156" cy="8742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874207"/>
            </a:xfrm>
            <a:custGeom>
              <a:avLst/>
              <a:gdLst/>
              <a:ahLst/>
              <a:cxnLst/>
              <a:rect l="l" t="t" r="r" b="b"/>
              <a:pathLst>
                <a:path w="1681156" h="874207">
                  <a:moveTo>
                    <a:pt x="0" y="0"/>
                  </a:moveTo>
                  <a:lnTo>
                    <a:pt x="1681156" y="0"/>
                  </a:lnTo>
                  <a:lnTo>
                    <a:pt x="1681156" y="874207"/>
                  </a:lnTo>
                  <a:lnTo>
                    <a:pt x="0" y="87420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Dampak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Jangka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Pendek</a:t>
              </a:r>
              <a:r>
                <a:rPr lang="en-US" sz="1200" dirty="0">
                  <a:latin typeface="Arial Rounded MT Bold" panose="020F0704030504030204" pitchFamily="34" charset="0"/>
                </a:rPr>
                <a:t> (6 Bulan):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Tercapainya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digitalisasi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stok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di 10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sentra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utama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terwujudnya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penurunan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pencatatan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manual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koperasi-koperasi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r>
                <a:rPr lang="en-US" sz="1200" dirty="0">
                  <a:latin typeface="Arial Rounded MT Bold" panose="020F0704030504030204" pitchFamily="34" charset="0"/>
                </a:rPr>
                <a:t>-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Dampak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Jangka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Menengah</a:t>
              </a:r>
              <a:r>
                <a:rPr lang="en-US" sz="1200" dirty="0">
                  <a:latin typeface="Arial Rounded MT Bold" panose="020F0704030504030204" pitchFamily="34" charset="0"/>
                </a:rPr>
                <a:t> (2-3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Tahun</a:t>
              </a:r>
              <a:r>
                <a:rPr lang="en-US" sz="1200" dirty="0">
                  <a:latin typeface="Arial Rounded MT Bold" panose="020F0704030504030204" pitchFamily="34" charset="0"/>
                </a:rPr>
                <a:t>):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Terjadinya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penurunan</a:t>
              </a:r>
              <a:r>
                <a:rPr lang="en-US" sz="1200" dirty="0">
                  <a:latin typeface="Arial Rounded MT Bold" panose="020F0704030504030204" pitchFamily="34" charset="0"/>
                </a:rPr>
                <a:t> rata-rata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strategis</a:t>
              </a:r>
              <a:r>
                <a:rPr lang="en-US" sz="1200" dirty="0">
                  <a:latin typeface="Arial Rounded MT Bold" panose="020F0704030504030204" pitchFamily="34" charset="0"/>
                </a:rPr>
                <a:t>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tingkat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konsumen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sebesar</a:t>
              </a:r>
              <a:r>
                <a:rPr lang="en-US" sz="1200" dirty="0">
                  <a:latin typeface="Arial Rounded MT Bold" panose="020F0704030504030204" pitchFamily="34" charset="0"/>
                </a:rPr>
                <a:t> 5-8%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berkat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optimalisasi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. Selain itu,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proyek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berdampak</a:t>
              </a:r>
              <a:r>
                <a:rPr lang="en-US" sz="1200" dirty="0">
                  <a:latin typeface="Arial Rounded MT Bold" panose="020F0704030504030204" pitchFamily="34" charset="0"/>
                </a:rPr>
                <a:t> pada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peningkatan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porsi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sektor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pertanian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dirty="0">
                  <a:latin typeface="Arial Rounded MT Bold" panose="020F0704030504030204" pitchFamily="34" charset="0"/>
                </a:rPr>
                <a:t> 15%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pemanfaatan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skema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Kebijakan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Likuiditas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Makroprudensial</a:t>
              </a:r>
              <a:r>
                <a:rPr lang="en-US" sz="1200" dirty="0">
                  <a:latin typeface="Arial Rounded MT Bold" panose="020F0704030504030204" pitchFamily="34" charset="0"/>
                </a:rPr>
                <a:t> (KLM) Bank Indonesia.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02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innovation &amp; differentiation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Membuat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 Ini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Berbeda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unsur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keunikan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atau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baru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6908" y="10159188"/>
            <a:ext cx="13751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 err="1">
                  <a:latin typeface="Arial Rounded MT Bold" panose="020F0704030504030204" pitchFamily="34" charset="0"/>
                </a:rPr>
                <a:t>Keunikan</a:t>
              </a:r>
              <a:r>
                <a:rPr lang="en-US" sz="1200" dirty="0">
                  <a:latin typeface="Arial Rounded MT Bold" panose="020F0704030504030204" pitchFamily="34" charset="0"/>
                </a:rPr>
                <a:t> 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middleware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hibrida</a:t>
              </a:r>
              <a:r>
                <a:rPr lang="en-US" sz="1200" dirty="0">
                  <a:latin typeface="Arial Rounded MT Bold" panose="020F0704030504030204" pitchFamily="34" charset="0"/>
                </a:rPr>
                <a:t> AI dan Blockchain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terletak</a:t>
              </a:r>
              <a:r>
                <a:rPr lang="en-US" sz="1200" dirty="0">
                  <a:latin typeface="Arial Rounded MT Bold" panose="020F0704030504030204" pitchFamily="34" charset="0"/>
                </a:rPr>
                <a:t> pada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integrasinya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infrastruktur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keuangan</a:t>
              </a:r>
              <a:r>
                <a:rPr lang="en-US" sz="1200" dirty="0">
                  <a:latin typeface="Arial Rounded MT Bold" panose="020F0704030504030204" pitchFamily="34" charset="0"/>
                </a:rPr>
                <a:t> masa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depan</a:t>
              </a:r>
              <a:r>
                <a:rPr lang="en-US" sz="1200" dirty="0">
                  <a:latin typeface="Arial Rounded MT Bold" panose="020F0704030504030204" pitchFamily="34" charset="0"/>
                </a:rPr>
                <a:t>. Tiga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inovasi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pembedanya</a:t>
              </a:r>
              <a:r>
                <a:rPr lang="en-US" sz="1200" dirty="0">
                  <a:latin typeface="Arial Rounded MT Bold" panose="020F0704030504030204" pitchFamily="34" charset="0"/>
                </a:rPr>
                <a:t>:</a:t>
              </a:r>
            </a:p>
            <a:p>
              <a:pPr marL="228600" indent="-228600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Ready for Project Garuda: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Dibangun</a:t>
              </a:r>
              <a:r>
                <a:rPr lang="en-US" sz="1200" dirty="0">
                  <a:latin typeface="Arial Rounded MT Bold" panose="020F0704030504030204" pitchFamily="34" charset="0"/>
                </a:rPr>
                <a:t>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jaringan</a:t>
              </a:r>
              <a:r>
                <a:rPr lang="en-US" sz="1200" dirty="0">
                  <a:latin typeface="Arial Rounded MT Bold" panose="020F0704030504030204" pitchFamily="34" charset="0"/>
                </a:rPr>
                <a:t> Hyperledger Besu,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siap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beralih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</a:t>
              </a:r>
              <a:r>
                <a:rPr lang="en-US" sz="1200" dirty="0">
                  <a:latin typeface="Arial Rounded MT Bold" panose="020F0704030504030204" pitchFamily="34" charset="0"/>
                </a:rPr>
                <a:t> Rupiah Digital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wCBDC</a:t>
              </a:r>
              <a:r>
                <a:rPr lang="en-US" sz="1200" dirty="0">
                  <a:latin typeface="Arial Rounded MT Bold" panose="020F0704030504030204" pitchFamily="34" charset="0"/>
                </a:rPr>
                <a:t>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penyelesaian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wholesale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perombakan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228600" indent="-228600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Proactive Fraud Defense: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API </a:t>
              </a:r>
              <a:r>
                <a:rPr lang="en-US" sz="1200" i="1" dirty="0">
                  <a:latin typeface="Arial Rounded MT Bold" panose="020F0704030504030204" pitchFamily="34" charset="0"/>
                </a:rPr>
                <a:t>Indonesia Anti-Scam Centre</a:t>
              </a:r>
              <a:r>
                <a:rPr lang="en-US" sz="1200" dirty="0">
                  <a:latin typeface="Arial Rounded MT Bold" panose="020F0704030504030204" pitchFamily="34" charset="0"/>
                </a:rPr>
                <a:t> (IASC) OJK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memblokir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rekening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terindikasi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penipuan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real-time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228600" indent="-228600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Cross-Category Hybrid:</a:t>
              </a:r>
              <a:r>
                <a:rPr lang="en-US" sz="1200" dirty="0">
                  <a:latin typeface="Arial Rounded MT Bold" panose="020F0704030504030204" pitchFamily="34" charset="0"/>
                </a:rPr>
                <a:t> Solusi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tunggal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simultan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menjawab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masalah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Ketahanan</a:t>
              </a:r>
              <a:r>
                <a:rPr lang="en-US" sz="1200" dirty="0">
                  <a:latin typeface="Arial Rounded MT Bold" panose="020F0704030504030204" pitchFamily="34" charset="0"/>
                </a:rPr>
                <a:t> Pangan,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Manajemen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i="1" dirty="0">
                  <a:latin typeface="Arial Rounded MT Bold" panose="020F0704030504030204" pitchFamily="34" charset="0"/>
                </a:rPr>
                <a:t>Local Currency Transaction</a:t>
              </a:r>
              <a:r>
                <a:rPr lang="en-US" sz="1200" dirty="0">
                  <a:latin typeface="Arial Rounded MT Bold" panose="020F0704030504030204" pitchFamily="34" charset="0"/>
                </a:rPr>
                <a:t> (LCT).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5634508"/>
            <a:ext cx="5946651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Posisi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Dibanding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atau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Produk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Sudah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Ada</a:t>
            </a:r>
          </a:p>
          <a:p>
            <a:pPr algn="l">
              <a:lnSpc>
                <a:spcPts val="1540"/>
              </a:lnSpc>
            </a:pP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sudah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ada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serupa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pasar,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melengkapi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memperbaiki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atau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melampaui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000" y="6501918"/>
            <a:ext cx="6048000" cy="3434082"/>
            <a:chOff x="0" y="0"/>
            <a:chExt cx="1693333" cy="9614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961482"/>
            </a:xfrm>
            <a:custGeom>
              <a:avLst/>
              <a:gdLst/>
              <a:ahLst/>
              <a:cxnLst/>
              <a:rect l="l" t="t" r="r" b="b"/>
              <a:pathLst>
                <a:path w="1693333" h="961482">
                  <a:moveTo>
                    <a:pt x="0" y="0"/>
                  </a:moveTo>
                  <a:lnTo>
                    <a:pt x="1693333" y="0"/>
                  </a:lnTo>
                  <a:lnTo>
                    <a:pt x="1693333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E83A6EC-D65E-6227-158D-26BF2BD616C2}"/>
              </a:ext>
            </a:extLst>
          </p:cNvPr>
          <p:cNvSpPr txBox="1"/>
          <p:nvPr/>
        </p:nvSpPr>
        <p:spPr>
          <a:xfrm>
            <a:off x="754250" y="6598268"/>
            <a:ext cx="600800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Arial Rounded MT Bold" panose="020F0704030504030204" pitchFamily="34" charset="0"/>
              </a:rPr>
              <a:t>Aplikasi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logistik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konvensional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sering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menyembunyikan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biaya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melalui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perantara</a:t>
            </a:r>
            <a:r>
              <a:rPr lang="en-US" sz="1200" dirty="0">
                <a:latin typeface="Arial Rounded MT Bold" panose="020F0704030504030204" pitchFamily="34" charset="0"/>
              </a:rPr>
              <a:t> (</a:t>
            </a:r>
            <a:r>
              <a:rPr lang="en-US" sz="1200" dirty="0" err="1">
                <a:latin typeface="Arial Rounded MT Bold" panose="020F0704030504030204" pitchFamily="34" charset="0"/>
              </a:rPr>
              <a:t>tengkulak</a:t>
            </a:r>
            <a:r>
              <a:rPr lang="en-US" sz="1200" dirty="0">
                <a:latin typeface="Arial Rounded MT Bold" panose="020F0704030504030204" pitchFamily="34" charset="0"/>
              </a:rPr>
              <a:t>) dan </a:t>
            </a:r>
            <a:r>
              <a:rPr lang="en-US" sz="1200" dirty="0" err="1">
                <a:latin typeface="Arial Rounded MT Bold" panose="020F0704030504030204" pitchFamily="34" charset="0"/>
              </a:rPr>
              <a:t>membatasi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pembiayaan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hanya</a:t>
            </a:r>
            <a:r>
              <a:rPr lang="en-US" sz="1200" dirty="0">
                <a:latin typeface="Arial Rounded MT Bold" panose="020F0704030504030204" pitchFamily="34" charset="0"/>
              </a:rPr>
              <a:t> pada </a:t>
            </a:r>
            <a:r>
              <a:rPr lang="en-US" sz="1200" dirty="0" err="1">
                <a:latin typeface="Arial Rounded MT Bold" panose="020F0704030504030204" pitchFamily="34" charset="0"/>
              </a:rPr>
              <a:t>agunan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fisik</a:t>
            </a:r>
            <a:r>
              <a:rPr lang="en-US" sz="1200" dirty="0">
                <a:latin typeface="Arial Rounded MT Bold" panose="020F0704030504030204" pitchFamily="34" charset="0"/>
              </a:rPr>
              <a:t>. </a:t>
            </a:r>
            <a:r>
              <a:rPr lang="en-US" sz="1200" dirty="0" err="1">
                <a:latin typeface="Arial Rounded MT Bold" panose="020F0704030504030204" pitchFamily="34" charset="0"/>
              </a:rPr>
              <a:t>Penyelesaian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transaksinya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memakan</a:t>
            </a:r>
            <a:r>
              <a:rPr lang="en-US" sz="1200" dirty="0">
                <a:latin typeface="Arial Rounded MT Bold" panose="020F0704030504030204" pitchFamily="34" charset="0"/>
              </a:rPr>
              <a:t> 1-3 </a:t>
            </a:r>
            <a:r>
              <a:rPr lang="en-US" sz="1200" dirty="0" err="1">
                <a:latin typeface="Arial Rounded MT Bold" panose="020F0704030504030204" pitchFamily="34" charset="0"/>
              </a:rPr>
              <a:t>hari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kerja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dengan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mitigasi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penipuan</a:t>
            </a:r>
            <a:r>
              <a:rPr lang="en-US" sz="1200" dirty="0">
                <a:latin typeface="Arial Rounded MT Bold" panose="020F0704030504030204" pitchFamily="34" charset="0"/>
              </a:rPr>
              <a:t> manual atau </a:t>
            </a:r>
            <a:r>
              <a:rPr lang="en-US" sz="1200" dirty="0" err="1">
                <a:latin typeface="Arial Rounded MT Bold" panose="020F0704030504030204" pitchFamily="34" charset="0"/>
              </a:rPr>
              <a:t>reaktif</a:t>
            </a:r>
            <a:r>
              <a:rPr lang="en-US" sz="1200" dirty="0">
                <a:latin typeface="Arial Rounded MT Bold" panose="020F0704030504030204" pitchFamily="34" charset="0"/>
              </a:rPr>
              <a:t>. GARUDA-LINK </a:t>
            </a:r>
            <a:r>
              <a:rPr lang="en-US" sz="1200" dirty="0" err="1">
                <a:latin typeface="Arial Rounded MT Bold" panose="020F0704030504030204" pitchFamily="34" charset="0"/>
              </a:rPr>
              <a:t>melampaui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pendekatan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tersebut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melalui</a:t>
            </a:r>
            <a:r>
              <a:rPr lang="en-US" sz="1200" dirty="0">
                <a:latin typeface="Arial Rounded MT Bold" panose="020F0704030504030204" pitchFamily="34" charset="0"/>
              </a:rPr>
              <a:t>:</a:t>
            </a:r>
          </a:p>
          <a:p>
            <a:pPr marL="228600" indent="-228600">
              <a:buAutoNum type="arabicPeriod"/>
            </a:pPr>
            <a:r>
              <a:rPr lang="en-US" sz="1200" b="1" dirty="0" err="1">
                <a:latin typeface="Arial Rounded MT Bold" panose="020F0704030504030204" pitchFamily="34" charset="0"/>
              </a:rPr>
              <a:t>Transparansi</a:t>
            </a:r>
            <a:r>
              <a:rPr lang="en-US" sz="1200" b="1" dirty="0">
                <a:latin typeface="Arial Rounded MT Bold" panose="020F0704030504030204" pitchFamily="34" charset="0"/>
              </a:rPr>
              <a:t> </a:t>
            </a:r>
            <a:r>
              <a:rPr lang="en-US" sz="1200" b="1" dirty="0" err="1">
                <a:latin typeface="Arial Rounded MT Bold" panose="020F0704030504030204" pitchFamily="34" charset="0"/>
              </a:rPr>
              <a:t>Biaya</a:t>
            </a:r>
            <a:r>
              <a:rPr lang="en-US" sz="1200" b="1" dirty="0">
                <a:latin typeface="Arial Rounded MT Bold" panose="020F0704030504030204" pitchFamily="34" charset="0"/>
              </a:rPr>
              <a:t>: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Seluruhnya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terbuka</a:t>
            </a:r>
            <a:r>
              <a:rPr lang="en-US" sz="1200" dirty="0">
                <a:latin typeface="Arial Rounded MT Bold" panose="020F0704030504030204" pitchFamily="34" charset="0"/>
              </a:rPr>
              <a:t> dan </a:t>
            </a:r>
            <a:r>
              <a:rPr lang="en-US" sz="1200" dirty="0" err="1">
                <a:latin typeface="Arial Rounded MT Bold" panose="020F0704030504030204" pitchFamily="34" charset="0"/>
              </a:rPr>
              <a:t>tercatat</a:t>
            </a:r>
            <a:r>
              <a:rPr lang="en-US" sz="1200" dirty="0">
                <a:latin typeface="Arial Rounded MT Bold" panose="020F0704030504030204" pitchFamily="34" charset="0"/>
              </a:rPr>
              <a:t> di </a:t>
            </a:r>
            <a:r>
              <a:rPr lang="en-US" sz="1200" i="1" dirty="0">
                <a:latin typeface="Arial Rounded MT Bold" panose="020F0704030504030204" pitchFamily="34" charset="0"/>
              </a:rPr>
              <a:t>Ledger</a:t>
            </a:r>
            <a:r>
              <a:rPr lang="en-US" sz="1200" dirty="0">
                <a:latin typeface="Arial Rounded MT Bold" panose="020F0704030504030204" pitchFamily="34" charset="0"/>
              </a:rPr>
              <a:t> Digital. </a:t>
            </a:r>
          </a:p>
          <a:p>
            <a:pPr marL="228600" indent="-228600">
              <a:buAutoNum type="arabicPeriod"/>
            </a:pPr>
            <a:r>
              <a:rPr lang="en-US" sz="1200" b="1" dirty="0" err="1">
                <a:latin typeface="Arial Rounded MT Bold" panose="020F0704030504030204" pitchFamily="34" charset="0"/>
              </a:rPr>
              <a:t>Pembiayaan</a:t>
            </a:r>
            <a:r>
              <a:rPr lang="en-US" sz="1200" b="1" dirty="0">
                <a:latin typeface="Arial Rounded MT Bold" panose="020F0704030504030204" pitchFamily="34" charset="0"/>
              </a:rPr>
              <a:t> Baru: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Menggunakan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aset</a:t>
            </a:r>
            <a:r>
              <a:rPr lang="en-US" sz="1200" dirty="0">
                <a:latin typeface="Arial Rounded MT Bold" panose="020F0704030504030204" pitchFamily="34" charset="0"/>
              </a:rPr>
              <a:t> digital (</a:t>
            </a:r>
            <a:r>
              <a:rPr lang="en-US" sz="1200" dirty="0" err="1">
                <a:latin typeface="Arial Rounded MT Bold" panose="020F0704030504030204" pitchFamily="34" charset="0"/>
              </a:rPr>
              <a:t>bukti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transaksi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panen</a:t>
            </a:r>
            <a:r>
              <a:rPr lang="en-US" sz="1200" dirty="0">
                <a:latin typeface="Arial Rounded MT Bold" panose="020F0704030504030204" pitchFamily="34" charset="0"/>
              </a:rPr>
              <a:t>).</a:t>
            </a:r>
          </a:p>
          <a:p>
            <a:pPr marL="228600" indent="-228600">
              <a:buAutoNum type="arabicPeriod"/>
            </a:pPr>
            <a:r>
              <a:rPr lang="en-US" sz="1200" b="1" dirty="0">
                <a:latin typeface="Arial Rounded MT Bold" panose="020F0704030504030204" pitchFamily="34" charset="0"/>
              </a:rPr>
              <a:t>Settlement </a:t>
            </a:r>
            <a:r>
              <a:rPr lang="en-US" sz="1200" b="1" dirty="0" err="1">
                <a:latin typeface="Arial Rounded MT Bold" panose="020F0704030504030204" pitchFamily="34" charset="0"/>
              </a:rPr>
              <a:t>Instan</a:t>
            </a:r>
            <a:r>
              <a:rPr lang="en-US" sz="1200" b="1" dirty="0">
                <a:latin typeface="Arial Rounded MT Bold" panose="020F0704030504030204" pitchFamily="34" charset="0"/>
              </a:rPr>
              <a:t>: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Eksekusi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i="1" dirty="0">
                <a:latin typeface="Arial Rounded MT Bold" panose="020F0704030504030204" pitchFamily="34" charset="0"/>
              </a:rPr>
              <a:t>real-time</a:t>
            </a:r>
            <a:r>
              <a:rPr lang="en-US" sz="1200" dirty="0">
                <a:latin typeface="Arial Rounded MT Bold" panose="020F0704030504030204" pitchFamily="34" charset="0"/>
              </a:rPr>
              <a:t> via BI-FAST atau </a:t>
            </a:r>
            <a:r>
              <a:rPr lang="en-US" sz="1200" dirty="0" err="1">
                <a:latin typeface="Arial Rounded MT Bold" panose="020F0704030504030204" pitchFamily="34" charset="0"/>
              </a:rPr>
              <a:t>wCBDC</a:t>
            </a:r>
            <a:r>
              <a:rPr lang="en-US" sz="1200" dirty="0">
                <a:latin typeface="Arial Rounded MT Bold" panose="020F0704030504030204" pitchFamily="34" charset="0"/>
              </a:rPr>
              <a:t>.</a:t>
            </a:r>
          </a:p>
          <a:p>
            <a:pPr marL="228600" indent="-228600">
              <a:buAutoNum type="arabicPeriod"/>
            </a:pPr>
            <a:r>
              <a:rPr lang="en-US" sz="1200" b="1" dirty="0" err="1">
                <a:latin typeface="Arial Rounded MT Bold" panose="020F0704030504030204" pitchFamily="34" charset="0"/>
              </a:rPr>
              <a:t>Mitigasi</a:t>
            </a:r>
            <a:r>
              <a:rPr lang="en-US" sz="1200" b="1" dirty="0">
                <a:latin typeface="Arial Rounded MT Bold" panose="020F0704030504030204" pitchFamily="34" charset="0"/>
              </a:rPr>
              <a:t> </a:t>
            </a:r>
            <a:r>
              <a:rPr lang="en-US" sz="1200" b="1" dirty="0" err="1">
                <a:latin typeface="Arial Rounded MT Bold" panose="020F0704030504030204" pitchFamily="34" charset="0"/>
              </a:rPr>
              <a:t>Proaktif</a:t>
            </a:r>
            <a:r>
              <a:rPr lang="en-US" sz="1200" b="1" dirty="0">
                <a:latin typeface="Arial Rounded MT Bold" panose="020F0704030504030204" pitchFamily="34" charset="0"/>
              </a:rPr>
              <a:t>: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Terintegrasi</a:t>
            </a:r>
            <a:r>
              <a:rPr lang="en-US" sz="1200" dirty="0">
                <a:latin typeface="Arial Rounded MT Bold" panose="020F0704030504030204" pitchFamily="34" charset="0"/>
              </a:rPr>
              <a:t> IASC. Solusi ini paling </a:t>
            </a:r>
            <a:r>
              <a:rPr lang="en-US" sz="1200" dirty="0" err="1">
                <a:latin typeface="Arial Rounded MT Bold" panose="020F0704030504030204" pitchFamily="34" charset="0"/>
              </a:rPr>
              <a:t>siap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terkoneksi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ke</a:t>
            </a:r>
            <a:r>
              <a:rPr lang="en-US" sz="1200" dirty="0">
                <a:latin typeface="Arial Rounded MT Bold" panose="020F0704030504030204" pitchFamily="34" charset="0"/>
              </a:rPr>
              <a:t> </a:t>
            </a:r>
            <a:r>
              <a:rPr lang="en-US" sz="1200" dirty="0" err="1">
                <a:latin typeface="Arial Rounded MT Bold" panose="020F0704030504030204" pitchFamily="34" charset="0"/>
              </a:rPr>
              <a:t>infrastruktur</a:t>
            </a:r>
            <a:r>
              <a:rPr lang="en-US" sz="1200" dirty="0">
                <a:latin typeface="Arial Rounded MT Bold" panose="020F0704030504030204" pitchFamily="34" charset="0"/>
              </a:rPr>
              <a:t> Rupiah Digital di masa </a:t>
            </a:r>
            <a:r>
              <a:rPr lang="en-US" sz="1200" dirty="0" err="1">
                <a:latin typeface="Arial Rounded MT Bold" panose="020F0704030504030204" pitchFamily="34" charset="0"/>
              </a:rPr>
              <a:t>depan</a:t>
            </a:r>
            <a:r>
              <a:rPr lang="en-US" sz="1200" dirty="0">
                <a:latin typeface="Arial Rounded MT Bold" panose="020F07040305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791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Utama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Sebutkan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atau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pendekatan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utama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(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contoh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: AI,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aplikasi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web, mobile, data analytics, automation).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75251" y="10159188"/>
            <a:ext cx="219174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21182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Hybrid Intelligence:</a:t>
              </a:r>
            </a:p>
            <a:p>
              <a:pPr marL="171450" indent="-171450" algn="just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AI Layer:</a:t>
              </a:r>
              <a:r>
                <a:rPr lang="en-US" sz="1200" dirty="0">
                  <a:latin typeface="Arial Rounded MT Bold" panose="020F0704030504030204" pitchFamily="34" charset="0"/>
                </a:rPr>
                <a:t> Model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hibrida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XGBoost</a:t>
              </a:r>
              <a:r>
                <a:rPr lang="en-US" sz="1200" dirty="0">
                  <a:latin typeface="Arial Rounded MT Bold" panose="020F0704030504030204" pitchFamily="34" charset="0"/>
                </a:rPr>
                <a:t>-LSTM (TensorFlow)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prediksi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PIHPS.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Optimasi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dinamis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Genetic Algorithm (GA) dan PPO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diintegrasikan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HSTE-GNN.</a:t>
              </a:r>
              <a:endParaRPr lang="en-US" sz="1200" b="1" dirty="0">
                <a:latin typeface="Arial Rounded MT Bold" panose="020F0704030504030204" pitchFamily="34" charset="0"/>
              </a:endParaRPr>
            </a:p>
            <a:p>
              <a:pPr marL="171450" indent="-171450" algn="just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Blockchain Layer: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Jaringan</a:t>
              </a:r>
              <a:r>
                <a:rPr lang="en-US" sz="1200" dirty="0">
                  <a:latin typeface="Arial Rounded MT Bold" panose="020F0704030504030204" pitchFamily="34" charset="0"/>
                </a:rPr>
                <a:t> Hyperledger Besu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konsensus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PoA</a:t>
              </a:r>
              <a:r>
                <a:rPr lang="en-US" sz="1200" dirty="0">
                  <a:latin typeface="Arial Rounded MT Bold" panose="020F0704030504030204" pitchFamily="34" charset="0"/>
                </a:rPr>
                <a:t> (QBFT)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tokenisasi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selaras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infrastruktur</a:t>
              </a:r>
              <a:r>
                <a:rPr lang="en-US" sz="1200" dirty="0">
                  <a:latin typeface="Arial Rounded MT Bold" panose="020F0704030504030204" pitchFamily="34" charset="0"/>
                </a:rPr>
                <a:t> Rupiah Digital BI.</a:t>
              </a:r>
            </a:p>
            <a:p>
              <a:pPr marL="171450" indent="-171450" algn="just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Integrasi: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Mikroservis</a:t>
              </a:r>
              <a:r>
                <a:rPr lang="en-US" sz="1200" dirty="0">
                  <a:latin typeface="Arial Rounded MT Bold" panose="020F0704030504030204" pitchFamily="34" charset="0"/>
                </a:rPr>
                <a:t> (Node.js)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mematuhi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Standar</a:t>
              </a:r>
              <a:r>
                <a:rPr lang="en-US" sz="1200" dirty="0">
                  <a:latin typeface="Arial Rounded MT Bold" panose="020F0704030504030204" pitchFamily="34" charset="0"/>
                </a:rPr>
                <a:t> Open API (SNAP)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interkoneksi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nasional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171450" indent="-171450" algn="just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Security &amp; Data:</a:t>
              </a:r>
              <a:r>
                <a:rPr lang="en-US" sz="1200" dirty="0">
                  <a:latin typeface="Arial Rounded MT Bold" panose="020F0704030504030204" pitchFamily="34" charset="0"/>
                </a:rPr>
                <a:t> Database PostgreSQL, IPFS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penyimpanan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terdesentralisasi</a:t>
              </a:r>
              <a:r>
                <a:rPr lang="en-US" sz="1200" dirty="0">
                  <a:latin typeface="Arial Rounded MT Bold" panose="020F0704030504030204" pitchFamily="34" charset="0"/>
                </a:rPr>
                <a:t>,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enkripsi</a:t>
              </a:r>
              <a:r>
                <a:rPr lang="en-US" sz="1200" dirty="0">
                  <a:latin typeface="Arial Rounded MT Bold" panose="020F0704030504030204" pitchFamily="34" charset="0"/>
                </a:rPr>
                <a:t> AES-256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kepatuhan</a:t>
              </a:r>
              <a:r>
                <a:rPr lang="en-US" sz="1200" dirty="0">
                  <a:latin typeface="Arial Rounded MT Bold" panose="020F0704030504030204" pitchFamily="34" charset="0"/>
                </a:rPr>
                <a:t> UU PDP.</a:t>
              </a:r>
            </a:p>
            <a:p>
              <a:pPr marL="171450" indent="-171450" algn="just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Interface:</a:t>
              </a:r>
              <a:r>
                <a:rPr lang="en-US" sz="1200" dirty="0">
                  <a:latin typeface="Arial Rounded MT Bold" panose="020F0704030504030204" pitchFamily="34" charset="0"/>
                </a:rPr>
                <a:t> Dashboard Web &amp; Mobile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monitoring real-time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profil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77747" y="583433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Pemilihan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Penggunaan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memilih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teknologi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cara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menggunakannya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77747" y="6511249"/>
            <a:ext cx="6004506" cy="3424751"/>
            <a:chOff x="0" y="0"/>
            <a:chExt cx="1681156" cy="9588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958870"/>
            </a:xfrm>
            <a:custGeom>
              <a:avLst/>
              <a:gdLst/>
              <a:ahLst/>
              <a:cxnLst/>
              <a:rect l="l" t="t" r="r" b="b"/>
              <a:pathLst>
                <a:path w="1681156" h="958870">
                  <a:moveTo>
                    <a:pt x="0" y="0"/>
                  </a:moveTo>
                  <a:lnTo>
                    <a:pt x="1681156" y="0"/>
                  </a:lnTo>
                  <a:lnTo>
                    <a:pt x="1681156" y="958870"/>
                  </a:lnTo>
                  <a:lnTo>
                    <a:pt x="0" y="958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hibrida</a:t>
              </a:r>
              <a:r>
                <a:rPr lang="en-US" sz="1200" dirty="0">
                  <a:latin typeface="Arial Rounded MT Bold" panose="020F0704030504030204" pitchFamily="34" charset="0"/>
                </a:rPr>
                <a:t>:</a:t>
              </a:r>
            </a:p>
            <a:p>
              <a:pPr marL="171450" indent="-171450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AI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XGBoost</a:t>
              </a:r>
              <a:r>
                <a:rPr lang="en-US" sz="1200" dirty="0">
                  <a:latin typeface="Arial Rounded MT Bold" panose="020F0704030504030204" pitchFamily="34" charset="0"/>
                </a:rPr>
                <a:t>-LSTM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memprediksi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 via API PIHPS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akurat</a:t>
              </a:r>
              <a:r>
                <a:rPr lang="en-US" sz="1200" dirty="0">
                  <a:latin typeface="Arial Rounded MT Bold" panose="020F0704030504030204" pitchFamily="34" charset="0"/>
                </a:rPr>
                <a:t>, 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algoritma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Genetika</a:t>
              </a:r>
              <a:r>
                <a:rPr lang="en-US" sz="1200" dirty="0">
                  <a:latin typeface="Arial Rounded MT Bold" panose="020F0704030504030204" pitchFamily="34" charset="0"/>
                </a:rPr>
                <a:t> dan PPO+HSTE-GNN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mengoptimasi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armada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dinamis</a:t>
              </a:r>
              <a:r>
                <a:rPr lang="en-US" sz="1200" dirty="0">
                  <a:latin typeface="Arial Rounded MT Bold" panose="020F0704030504030204" pitchFamily="34" charset="0"/>
                </a:rPr>
                <a:t> guna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memangkas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dirty="0">
                  <a:latin typeface="Arial Rounded MT Bold" panose="020F0704030504030204" pitchFamily="34" charset="0"/>
                </a:rPr>
                <a:t> 20%.</a:t>
              </a:r>
            </a:p>
            <a:p>
              <a:pPr marL="171450" indent="-171450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Blockchain (Hyperledger Besu)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Dipilih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karena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selaras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PoC Rupiah Digital (Proyek Garuda) BI.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Konsensus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PoA</a:t>
              </a:r>
              <a:r>
                <a:rPr lang="en-US" sz="1200" dirty="0">
                  <a:latin typeface="Arial Rounded MT Bold" panose="020F0704030504030204" pitchFamily="34" charset="0"/>
                </a:rPr>
                <a:t> (QBFT)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energi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keamanan</a:t>
              </a:r>
              <a:r>
                <a:rPr lang="en-US" sz="1200" dirty="0">
                  <a:latin typeface="Arial Rounded MT Bold" panose="020F0704030504030204" pitchFamily="34" charset="0"/>
                </a:rPr>
                <a:t> smart contract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tokenisasi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171450" indent="-171450">
                <a:buFontTx/>
                <a:buChar char="-"/>
              </a:pPr>
              <a:r>
                <a:rPr lang="en-US" sz="1200" b="1" dirty="0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Mematuhi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standar</a:t>
              </a:r>
              <a:r>
                <a:rPr lang="en-US" sz="1200" dirty="0">
                  <a:latin typeface="Arial Rounded MT Bold" panose="020F0704030504030204" pitchFamily="34" charset="0"/>
                </a:rPr>
                <a:t> Open API SNAP BI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interoperabilitas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percepatan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produktif</a:t>
              </a:r>
              <a:r>
                <a:rPr lang="en-US" sz="1200" dirty="0">
                  <a:latin typeface="Arial Rounded MT Bold" panose="020F0704030504030204" pitchFamily="34" charset="0"/>
                </a:rPr>
                <a:t> oleh bank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mitra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87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Algoritma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Solusi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algoritma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AI/ML dan/atau blockchain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gunakan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57504" y="10159188"/>
            <a:ext cx="13692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48819" y="19277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 err="1">
                  <a:latin typeface="Arial Rounded MT Bold" panose="020F0704030504030204" pitchFamily="34" charset="0"/>
                </a:rPr>
                <a:t>Mesin</a:t>
              </a:r>
              <a:r>
                <a:rPr lang="en-US" sz="1200" dirty="0">
                  <a:latin typeface="Arial Rounded MT Bold" panose="020F0704030504030204" pitchFamily="34" charset="0"/>
                </a:rPr>
                <a:t> AI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beroperasi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dalam</a:t>
              </a:r>
              <a:r>
                <a:rPr lang="en-US" sz="1200" dirty="0">
                  <a:latin typeface="Arial Rounded MT Bold" panose="020F0704030504030204" pitchFamily="34" charset="0"/>
                </a:rPr>
                <a:t> 3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fase</a:t>
              </a:r>
              <a:r>
                <a:rPr lang="en-US" sz="1200" dirty="0">
                  <a:latin typeface="Arial Rounded MT Bold" panose="020F0704030504030204" pitchFamily="34" charset="0"/>
                </a:rPr>
                <a:t> logistic,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XGBoost</a:t>
              </a:r>
              <a:r>
                <a:rPr lang="en-US" sz="1200" b="1" dirty="0">
                  <a:latin typeface="Arial Rounded MT Bold" panose="020F0704030504030204" pitchFamily="34" charset="0"/>
                </a:rPr>
                <a:t>-LSTM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memproses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historis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memprediksi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lonjakan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harga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b="1" dirty="0">
                  <a:latin typeface="Arial Rounded MT Bold" panose="020F0704030504030204" pitchFamily="34" charset="0"/>
                </a:rPr>
                <a:t>Genetic Algorithm (GA)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menyusun</a:t>
              </a:r>
              <a:r>
                <a:rPr lang="en-US" sz="1200" dirty="0">
                  <a:latin typeface="Arial Rounded MT Bold" panose="020F0704030504030204" pitchFamily="34" charset="0"/>
                </a:rPr>
                <a:t> master-plan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armada statis. Saat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beroperasi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b="1" dirty="0">
                  <a:latin typeface="Arial Rounded MT Bold" panose="020F0704030504030204" pitchFamily="34" charset="0"/>
                </a:rPr>
                <a:t>PPO + HSTE-GNN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mengevaluasi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jutaan</a:t>
              </a:r>
              <a:r>
                <a:rPr lang="en-US" sz="1200" dirty="0">
                  <a:latin typeface="Arial Rounded MT Bold" panose="020F0704030504030204" pitchFamily="34" charset="0"/>
                </a:rPr>
                <a:t> node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jalan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perkotaan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terdistribusi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menyesuaikan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rute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kemacetan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real-time,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empiris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mereduksi</a:t>
              </a:r>
              <a:r>
                <a:rPr lang="en-US" sz="1200" dirty="0">
                  <a:latin typeface="Arial Rounded MT Bold" panose="020F0704030504030204" pitchFamily="34" charset="0"/>
                </a:rPr>
                <a:t> routing delay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hingga</a:t>
              </a:r>
              <a:r>
                <a:rPr lang="en-US" sz="1200" dirty="0">
                  <a:latin typeface="Arial Rounded MT Bold" panose="020F0704030504030204" pitchFamily="34" charset="0"/>
                </a:rPr>
                <a:t> 34,9%. Pada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sisi</a:t>
              </a:r>
              <a:r>
                <a:rPr lang="en-US" sz="1200" dirty="0">
                  <a:latin typeface="Arial Rounded MT Bold" panose="020F0704030504030204" pitchFamily="34" charset="0"/>
                </a:rPr>
                <a:t> DLT,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konsensus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Proof-of-Authority</a:t>
              </a:r>
              <a:r>
                <a:rPr lang="en-US" sz="1200" dirty="0">
                  <a:latin typeface="Arial Rounded MT Bold" panose="020F0704030504030204" pitchFamily="34" charset="0"/>
                </a:rPr>
                <a:t> (QBFT)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jaringan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b="1" dirty="0">
                  <a:latin typeface="Arial Rounded MT Bold" panose="020F0704030504030204" pitchFamily="34" charset="0"/>
                </a:rPr>
                <a:t>Hyperledger Besu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mengeksekusi</a:t>
              </a:r>
              <a:r>
                <a:rPr lang="en-US" sz="1200" dirty="0">
                  <a:latin typeface="Arial Rounded MT Bold" panose="020F0704030504030204" pitchFamily="34" charset="0"/>
                </a:rPr>
                <a:t> Smart Contract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memvalidasi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tokenisasi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pangan</a:t>
              </a:r>
              <a:r>
                <a:rPr lang="en-US" sz="1200" dirty="0">
                  <a:latin typeface="Arial Rounded MT Bold" panose="020F0704030504030204" pitchFamily="34" charset="0"/>
                </a:rPr>
                <a:t>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memberikan</a:t>
              </a:r>
              <a:r>
                <a:rPr lang="en-US" sz="1200" dirty="0">
                  <a:latin typeface="Arial Rounded MT Bold" panose="020F0704030504030204" pitchFamily="34" charset="0"/>
                </a:rPr>
                <a:t> immediate settlement finality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selaras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wCBDC</a:t>
              </a:r>
              <a:r>
                <a:rPr lang="en-US" sz="1200" dirty="0">
                  <a:latin typeface="Arial Rounded MT Bold" panose="020F0704030504030204" pitchFamily="34" charset="0"/>
                </a:rPr>
                <a:t> Proyek Garuda BI.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  <a:p>
              <a:pPr algn="ctr">
                <a:lnSpc>
                  <a:spcPts val="1960"/>
                </a:lnSpc>
              </a:pPr>
              <a:endParaRPr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5634508"/>
            <a:ext cx="5946651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Data atau Input Utama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data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digunakan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mana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asalnya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serta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kualitas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keandalan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data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tersebut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56000" y="6399858"/>
            <a:ext cx="6004506" cy="3536142"/>
            <a:chOff x="0" y="-28575"/>
            <a:chExt cx="1681156" cy="9900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961482"/>
            </a:xfrm>
            <a:custGeom>
              <a:avLst/>
              <a:gdLst/>
              <a:ahLst/>
              <a:cxnLst/>
              <a:rect l="l" t="t" r="r" b="b"/>
              <a:pathLst>
                <a:path w="1681156" h="961482">
                  <a:moveTo>
                    <a:pt x="0" y="0"/>
                  </a:moveTo>
                  <a:lnTo>
                    <a:pt x="1681156" y="0"/>
                  </a:lnTo>
                  <a:lnTo>
                    <a:pt x="1681156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Project 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tiga</a:t>
              </a:r>
              <a:r>
                <a:rPr lang="en-US" sz="1200" dirty="0">
                  <a:latin typeface="Arial Rounded MT Bold" panose="020F0704030504030204" pitchFamily="34" charset="0"/>
                </a:rPr>
                <a:t> input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utama</a:t>
              </a:r>
              <a:r>
                <a:rPr lang="en-US" sz="1200" dirty="0">
                  <a:latin typeface="Arial Rounded MT Bold" panose="020F0704030504030204" pitchFamily="34" charset="0"/>
                </a:rPr>
                <a:t>:</a:t>
              </a:r>
            </a:p>
            <a:p>
              <a:pPr marL="342900" indent="-342900" algn="just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Data Harga: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Ditangkap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otomatis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API Pusat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Informasi</a:t>
              </a:r>
              <a:r>
                <a:rPr lang="en-US" sz="1200" dirty="0">
                  <a:latin typeface="Arial Rounded MT Bold" panose="020F0704030504030204" pitchFamily="34" charset="0"/>
                </a:rPr>
                <a:t> Harga Pangan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Strategis</a:t>
              </a:r>
              <a:r>
                <a:rPr lang="en-US" sz="1200" dirty="0">
                  <a:latin typeface="Arial Rounded MT Bold" panose="020F0704030504030204" pitchFamily="34" charset="0"/>
                </a:rPr>
                <a:t> (PIHPS) Nasional. </a:t>
              </a:r>
            </a:p>
            <a:p>
              <a:pPr marL="342900" indent="-342900" algn="just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Data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b="1" dirty="0">
                  <a:latin typeface="Arial Rounded MT Bold" panose="020F0704030504030204" pitchFamily="34" charset="0"/>
                </a:rPr>
                <a:t>:</a:t>
              </a:r>
              <a:r>
                <a:rPr lang="en-US" sz="1200" dirty="0">
                  <a:latin typeface="Arial Rounded MT Bold" panose="020F0704030504030204" pitchFamily="34" charset="0"/>
                </a:rPr>
                <a:t> Input volume real-time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aplikasi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seluler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</a:p>
            <a:p>
              <a:pPr marL="342900" indent="-342900" algn="just">
                <a:buAutoNum type="arabicPeriod"/>
              </a:pPr>
              <a:r>
                <a:rPr lang="en-US" sz="1200" b="1" dirty="0">
                  <a:latin typeface="Arial Rounded MT Bold" panose="020F0704030504030204" pitchFamily="34" charset="0"/>
                </a:rPr>
                <a:t>Data Logistik:</a:t>
              </a:r>
              <a:r>
                <a:rPr lang="en-US" sz="1200" dirty="0">
                  <a:latin typeface="Arial Rounded MT Bold" panose="020F0704030504030204" pitchFamily="34" charset="0"/>
                </a:rPr>
                <a:t> Sensor IoT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telematika</a:t>
              </a:r>
              <a:r>
                <a:rPr lang="en-US" sz="1200" dirty="0">
                  <a:latin typeface="Arial Rounded MT Bold" panose="020F0704030504030204" pitchFamily="34" charset="0"/>
                </a:rPr>
                <a:t> armada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distribusi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terdaftar</a:t>
              </a:r>
              <a:r>
                <a:rPr lang="en-US" sz="1200" dirty="0">
                  <a:latin typeface="Arial Rounded MT Bold" panose="020F0704030504030204" pitchFamily="34" charset="0"/>
                </a:rPr>
                <a:t>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lokasi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muatan</a:t>
              </a:r>
              <a:r>
                <a:rPr lang="en-US" sz="1200" dirty="0">
                  <a:latin typeface="Arial Rounded MT Bold" panose="020F0704030504030204" pitchFamily="34" charset="0"/>
                </a:rPr>
                <a:t>).</a:t>
              </a:r>
            </a:p>
            <a:p>
              <a:pPr algn="just"/>
              <a:r>
                <a:rPr lang="en-US" sz="1200" dirty="0" err="1">
                  <a:latin typeface="Arial Rounded MT Bold" panose="020F0704030504030204" pitchFamily="34" charset="0"/>
                </a:rPr>
                <a:t>Kualitas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Keandalan</a:t>
              </a:r>
              <a:r>
                <a:rPr lang="en-US" sz="1200" dirty="0">
                  <a:latin typeface="Arial Rounded MT Bold" panose="020F0704030504030204" pitchFamily="34" charset="0"/>
                </a:rPr>
                <a:t> Data: Sangat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terjamin</a:t>
              </a:r>
              <a:r>
                <a:rPr lang="en-US" sz="1200" dirty="0">
                  <a:latin typeface="Arial Rounded MT Bold" panose="020F0704030504030204" pitchFamily="34" charset="0"/>
                </a:rPr>
                <a:t>. PIHPS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merupakan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otoritatif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nasional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Sementara</a:t>
              </a:r>
              <a:r>
                <a:rPr lang="en-US" sz="1200" dirty="0">
                  <a:latin typeface="Arial Rounded MT Bold" panose="020F0704030504030204" pitchFamily="34" charset="0"/>
                </a:rPr>
                <a:t> itu,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panen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pelacakan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logistik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dicatat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langsung</a:t>
              </a:r>
              <a:r>
                <a:rPr lang="en-US" sz="1200" dirty="0">
                  <a:latin typeface="Arial Rounded MT Bold" panose="020F0704030504030204" pitchFamily="34" charset="0"/>
                </a:rPr>
                <a:t> pada ledger Blockchain (Hyperledger Besu).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Teknologi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integritas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bersifat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mutlak</a:t>
              </a:r>
              <a:r>
                <a:rPr lang="en-US" sz="1200" dirty="0">
                  <a:latin typeface="Arial Rounded MT Bold" panose="020F0704030504030204" pitchFamily="34" charset="0"/>
                </a:rPr>
                <a:t> (immutable)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mustahil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dimanipulasi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perantara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Keandalan</a:t>
              </a:r>
              <a:r>
                <a:rPr lang="en-US" sz="1200" dirty="0">
                  <a:latin typeface="Arial Rounded MT Bold" panose="020F0704030504030204" pitchFamily="34" charset="0"/>
                </a:rPr>
                <a:t> anti-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manipulasi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inilah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membuatnya</a:t>
              </a:r>
              <a:r>
                <a:rPr lang="en-US" sz="1200" dirty="0">
                  <a:latin typeface="Arial Rounded MT Bold" panose="020F0704030504030204" pitchFamily="34" charset="0"/>
                </a:rPr>
                <a:t> valid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perbankan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jaminan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semu</a:t>
              </a:r>
              <a:r>
                <a:rPr lang="en-US" sz="1200" dirty="0">
                  <a:latin typeface="Arial Rounded MT Bold" panose="020F0704030504030204" pitchFamily="34" charset="0"/>
                </a:rPr>
                <a:t> (quasi-collateral)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technical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2791073"/>
            <a:ext cx="5946651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Pertimbangan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Keamanan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Skalabilitas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secara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singkat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bagaimana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memperhatikan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keamanan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data dan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potensi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pengembangan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depan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600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04025" y="10159188"/>
            <a:ext cx="19040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312149"/>
            <a:ext cx="6004506" cy="1350899"/>
            <a:chOff x="0" y="0"/>
            <a:chExt cx="1681156" cy="3782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378228"/>
            </a:xfrm>
            <a:custGeom>
              <a:avLst/>
              <a:gdLst/>
              <a:ahLst/>
              <a:cxnLst/>
              <a:rect l="l" t="t" r="r" b="b"/>
              <a:pathLst>
                <a:path w="1681156" h="378228">
                  <a:moveTo>
                    <a:pt x="0" y="0"/>
                  </a:moveTo>
                  <a:lnTo>
                    <a:pt x="1681156" y="0"/>
                  </a:lnTo>
                  <a:lnTo>
                    <a:pt x="1681156" y="378228"/>
                  </a:lnTo>
                  <a:lnTo>
                    <a:pt x="0" y="3782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40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3664959"/>
            <a:ext cx="6004506" cy="3434082"/>
            <a:chOff x="0" y="0"/>
            <a:chExt cx="1681156" cy="9614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81156" cy="961482"/>
            </a:xfrm>
            <a:custGeom>
              <a:avLst/>
              <a:gdLst/>
              <a:ahLst/>
              <a:cxnLst/>
              <a:rect l="l" t="t" r="r" b="b"/>
              <a:pathLst>
                <a:path w="1681156" h="961482">
                  <a:moveTo>
                    <a:pt x="0" y="0"/>
                  </a:moveTo>
                  <a:lnTo>
                    <a:pt x="1681156" y="0"/>
                  </a:lnTo>
                  <a:lnTo>
                    <a:pt x="1681156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marL="228600" indent="-228600" algn="just">
                <a:buAutoNum type="arabicPeriod"/>
              </a:pPr>
              <a:r>
                <a:rPr lang="en-US" sz="1200" dirty="0" err="1">
                  <a:latin typeface="Arial Rounded MT Bold" panose="020F0704030504030204" pitchFamily="34" charset="0"/>
                </a:rPr>
                <a:t>Keamanan</a:t>
              </a:r>
              <a:r>
                <a:rPr lang="en-US" sz="1200" dirty="0">
                  <a:latin typeface="Arial Rounded MT Bold" panose="020F0704030504030204" pitchFamily="34" charset="0"/>
                </a:rPr>
                <a:t> (Privacy by Design):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Patuh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mutlak</a:t>
              </a:r>
              <a:r>
                <a:rPr lang="en-US" sz="1200" dirty="0">
                  <a:latin typeface="Arial Rounded MT Bold" panose="020F0704030504030204" pitchFamily="34" charset="0"/>
                </a:rPr>
                <a:t> pada UU PDP.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sensitif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dienkripsi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standar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militer</a:t>
              </a:r>
              <a:r>
                <a:rPr lang="en-US" sz="1200" dirty="0">
                  <a:latin typeface="Arial Rounded MT Bold" panose="020F0704030504030204" pitchFamily="34" charset="0"/>
                </a:rPr>
                <a:t> AES-256 (at-rest &amp; in-transit). Pada layer blockchain,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kriptografi</a:t>
              </a:r>
              <a:r>
                <a:rPr lang="en-US" sz="1200" dirty="0">
                  <a:latin typeface="Arial Rounded MT Bold" panose="020F0704030504030204" pitchFamily="34" charset="0"/>
                </a:rPr>
                <a:t> Zero-Knowledge Proofs (ZKP)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diterapkan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merahasiakan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komersial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nasabah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menghilangkan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auditabilitas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bagi</a:t>
              </a:r>
              <a:r>
                <a:rPr lang="en-US" sz="1200" dirty="0">
                  <a:latin typeface="Arial Rounded MT Bold" panose="020F0704030504030204" pitchFamily="34" charset="0"/>
                </a:rPr>
                <a:t> regulator.</a:t>
              </a:r>
            </a:p>
            <a:p>
              <a:pPr marL="228600" indent="-228600" algn="just">
                <a:buAutoNum type="arabicPeriod"/>
              </a:pPr>
              <a:r>
                <a:rPr lang="en-US" sz="1200" dirty="0" err="1">
                  <a:latin typeface="Arial Rounded MT Bold" panose="020F0704030504030204" pitchFamily="34" charset="0"/>
                </a:rPr>
                <a:t>Skalabilitas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Penggunaan</a:t>
              </a:r>
              <a:r>
                <a:rPr lang="en-US" sz="1200" dirty="0">
                  <a:latin typeface="Arial Rounded MT Bold" panose="020F0704030504030204" pitchFamily="34" charset="0"/>
                </a:rPr>
                <a:t> Permissioned DLT (Hyperledger Besu)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berkonsensus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throughput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tinggi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Arsitektur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Cloud-Native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memfasilitasi</a:t>
              </a:r>
              <a:r>
                <a:rPr lang="en-US" sz="1200" dirty="0">
                  <a:latin typeface="Arial Rounded MT Bold" panose="020F0704030504030204" pitchFamily="34" charset="0"/>
                </a:rPr>
                <a:t> auto-scaling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menangani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lonjakan</a:t>
              </a:r>
              <a:r>
                <a:rPr lang="en-US" sz="1200" dirty="0">
                  <a:latin typeface="Arial Rounded MT Bold" panose="020F0704030504030204" pitchFamily="34" charset="0"/>
                </a:rPr>
                <a:t> volume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transaksi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dinamis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81156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implementation feasibility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254999"/>
            <a:ext cx="5946651" cy="636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Status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saat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sedang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tahap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?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Misalnya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ide / mockup / POC / prototype / pilot project?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91424" y="10159188"/>
            <a:ext cx="20300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63269"/>
            <a:ext cx="6048000" cy="607949"/>
            <a:chOff x="0" y="0"/>
            <a:chExt cx="1693333" cy="1702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170215"/>
            </a:xfrm>
            <a:custGeom>
              <a:avLst/>
              <a:gdLst/>
              <a:ahLst/>
              <a:cxnLst/>
              <a:rect l="l" t="t" r="r" b="b"/>
              <a:pathLst>
                <a:path w="1693333" h="170215">
                  <a:moveTo>
                    <a:pt x="0" y="0"/>
                  </a:moveTo>
                  <a:lnTo>
                    <a:pt x="1693333" y="0"/>
                  </a:lnTo>
                  <a:lnTo>
                    <a:pt x="1693333" y="170215"/>
                  </a:lnTo>
                  <a:lnTo>
                    <a:pt x="0" y="17021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Proof of Concept (POC) / Mockup Teknis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198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56000" y="2694181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Apakah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Inovasi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Realistis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untuk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Dibagun?</a:t>
            </a: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mengapa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ini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masuk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akal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untuk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direalisasikan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oleh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700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06450" y="3460170"/>
            <a:ext cx="6048000" cy="3579749"/>
            <a:chOff x="0" y="0"/>
            <a:chExt cx="1693333" cy="10022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1002267"/>
            </a:xfrm>
            <a:custGeom>
              <a:avLst/>
              <a:gdLst/>
              <a:ahLst/>
              <a:cxnLst/>
              <a:rect l="l" t="t" r="r" b="b"/>
              <a:pathLst>
                <a:path w="1693333" h="1002267">
                  <a:moveTo>
                    <a:pt x="0" y="0"/>
                  </a:moveTo>
                  <a:lnTo>
                    <a:pt x="1693333" y="0"/>
                  </a:lnTo>
                  <a:lnTo>
                    <a:pt x="1693333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dirty="0">
                  <a:latin typeface="Arial Rounded MT Bold" panose="020F0704030504030204" pitchFamily="34" charset="0"/>
                </a:rPr>
                <a:t>Sangat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realistis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pengembangan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diakselerasi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melalui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metodologi</a:t>
              </a:r>
              <a:r>
                <a:rPr lang="en-US" sz="1200" dirty="0">
                  <a:latin typeface="Arial Rounded MT Bold" panose="020F0704030504030204" pitchFamily="34" charset="0"/>
                </a:rPr>
                <a:t> Spec-Driven Development (SDD)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efektif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memitigasi</a:t>
              </a:r>
              <a:r>
                <a:rPr lang="en-US" sz="1200" dirty="0">
                  <a:latin typeface="Arial Rounded MT Bold" panose="020F0704030504030204" pitchFamily="34" charset="0"/>
                </a:rPr>
                <a:t> bug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logika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sejak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fase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perancangan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teks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spesifikasi</a:t>
              </a:r>
              <a:r>
                <a:rPr lang="en-US" sz="1200" dirty="0">
                  <a:latin typeface="Arial Rounded MT Bold" panose="020F0704030504030204" pitchFamily="34" charset="0"/>
                </a:rPr>
                <a:t>. Kami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tidak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membangun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infrastruktur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dasar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nol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melainkan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murni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bertindak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sebagai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middleware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agregator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Penggunaan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perkakas</a:t>
              </a:r>
              <a:r>
                <a:rPr lang="en-US" sz="1200" dirty="0">
                  <a:latin typeface="Arial Rounded MT Bold" panose="020F0704030504030204" pitchFamily="34" charset="0"/>
                </a:rPr>
                <a:t> open-source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kelas</a:t>
              </a:r>
              <a:r>
                <a:rPr lang="en-US" sz="1200" dirty="0">
                  <a:latin typeface="Arial Rounded MT Bold" panose="020F0704030504030204" pitchFamily="34" charset="0"/>
                </a:rPr>
                <a:t> enterprise (Hyperledger Besu, Python)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pemanfaatan</a:t>
              </a:r>
              <a:r>
                <a:rPr lang="en-US" sz="1200" dirty="0">
                  <a:latin typeface="Arial Rounded MT Bold" panose="020F0704030504030204" pitchFamily="34" charset="0"/>
                </a:rPr>
                <a:t> Mock-API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simulasi</a:t>
              </a:r>
              <a:r>
                <a:rPr lang="en-US" sz="1200" dirty="0">
                  <a:latin typeface="Arial Rounded MT Bold" panose="020F0704030504030204" pitchFamily="34" charset="0"/>
                </a:rPr>
                <a:t> SNAP BI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memungkinkan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solusi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mencapai</a:t>
              </a:r>
              <a:r>
                <a:rPr lang="en-US" sz="1200" dirty="0">
                  <a:latin typeface="Arial Rounded MT Bold" panose="020F0704030504030204" pitchFamily="34" charset="0"/>
                </a:rPr>
                <a:t> Minimum Viable Product (MVP)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lincah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Pendekatan</a:t>
              </a:r>
              <a:r>
                <a:rPr lang="en-US" sz="1200" dirty="0">
                  <a:latin typeface="Arial Rounded MT Bold" panose="020F0704030504030204" pitchFamily="34" charset="0"/>
                </a:rPr>
                <a:t> Full-Stack Strategist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menjamin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eksekusi</a:t>
              </a:r>
              <a:r>
                <a:rPr lang="en-US" sz="1200" dirty="0">
                  <a:latin typeface="Arial Rounded MT Bold" panose="020F0704030504030204" pitchFamily="34" charset="0"/>
                </a:rPr>
                <a:t>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presisi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pengeluaran</a:t>
              </a:r>
              <a:r>
                <a:rPr lang="en-US" sz="1200" dirty="0">
                  <a:latin typeface="Arial Rounded MT Bold" panose="020F0704030504030204" pitchFamily="34" charset="0"/>
                </a:rPr>
                <a:t> (burn rate) sangat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rendah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selama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inkubasi</a:t>
              </a:r>
              <a:r>
                <a:rPr lang="en-US" sz="1200" dirty="0">
                  <a:latin typeface="Arial Rounded MT Bold" panose="020F0704030504030204" pitchFamily="34" charset="0"/>
                </a:rPr>
                <a:t> DIGDAYA.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56000" y="7074665"/>
            <a:ext cx="5946651" cy="60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Tahapan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Pengembangan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rencana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tahapan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implementasi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awal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hingga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MVP atau pilot.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900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56000" y="7751575"/>
            <a:ext cx="6048000" cy="2184425"/>
            <a:chOff x="0" y="0"/>
            <a:chExt cx="1693333" cy="6116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93333" cy="611601"/>
            </a:xfrm>
            <a:custGeom>
              <a:avLst/>
              <a:gdLst/>
              <a:ahLst/>
              <a:cxnLst/>
              <a:rect l="l" t="t" r="r" b="b"/>
              <a:pathLst>
                <a:path w="1693333" h="611601">
                  <a:moveTo>
                    <a:pt x="0" y="0"/>
                  </a:moveTo>
                  <a:lnTo>
                    <a:pt x="1693333" y="0"/>
                  </a:lnTo>
                  <a:lnTo>
                    <a:pt x="1693333" y="611601"/>
                  </a:lnTo>
                  <a:lnTo>
                    <a:pt x="0" y="611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en-US" sz="1200" dirty="0">
                  <a:latin typeface="Arial Rounded MT Bold" panose="020F0704030504030204" pitchFamily="34" charset="0"/>
                </a:rPr>
                <a:t>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dibangun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metodologi</a:t>
              </a:r>
              <a:r>
                <a:rPr lang="en-US" sz="1200" dirty="0">
                  <a:latin typeface="Arial Rounded MT Bold" panose="020F0704030504030204" pitchFamily="34" charset="0"/>
                </a:rPr>
                <a:t> Spec-Driven Development (SDD)</a:t>
              </a:r>
            </a:p>
            <a:p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efisiensi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eksekusi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tahapan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berikut</a:t>
              </a:r>
              <a:r>
                <a:rPr lang="en-US" sz="1200" dirty="0">
                  <a:latin typeface="Arial Rounded MT Bold" panose="020F0704030504030204" pitchFamily="34" charset="0"/>
                </a:rPr>
                <a:t>: </a:t>
              </a:r>
            </a:p>
            <a:p>
              <a:r>
                <a:rPr lang="en-US" sz="1200" dirty="0">
                  <a:latin typeface="Arial Rounded MT Bold" panose="020F0704030504030204" pitchFamily="34" charset="0"/>
                </a:rPr>
                <a:t>1. </a:t>
              </a:r>
              <a:r>
                <a:rPr lang="en-US" sz="1200" b="1" dirty="0">
                  <a:latin typeface="Arial Rounded MT Bold" panose="020F0704030504030204" pitchFamily="34" charset="0"/>
                </a:rPr>
                <a:t>Desain &amp; Model (Bulan 1-2):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Penulisan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spesifikasi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GitHub Spec Kit,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perancangan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pangkalan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terenkripsi</a:t>
              </a:r>
              <a:r>
                <a:rPr lang="en-US" sz="1200" dirty="0">
                  <a:latin typeface="Arial Rounded MT Bold" panose="020F0704030504030204" pitchFamily="34" charset="0"/>
                </a:rPr>
                <a:t> AES-256,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pelatihan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awal</a:t>
              </a:r>
              <a:r>
                <a:rPr lang="en-US" sz="1200" dirty="0">
                  <a:latin typeface="Arial Rounded MT Bold" panose="020F0704030504030204" pitchFamily="34" charset="0"/>
                </a:rPr>
                <a:t> model AI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XGBoost</a:t>
              </a:r>
              <a:r>
                <a:rPr lang="en-US" sz="1200" dirty="0">
                  <a:latin typeface="Arial Rounded MT Bold" panose="020F0704030504030204" pitchFamily="34" charset="0"/>
                </a:rPr>
                <a:t>-LSTM &amp; GA/PPO)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menggunakan</a:t>
              </a:r>
              <a:r>
                <a:rPr lang="en-US" sz="1200" dirty="0">
                  <a:latin typeface="Arial Rounded MT Bold" panose="020F0704030504030204" pitchFamily="34" charset="0"/>
                </a:rPr>
                <a:t> data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historis</a:t>
              </a:r>
              <a:r>
                <a:rPr lang="en-US" sz="1200" dirty="0">
                  <a:latin typeface="Arial Rounded MT Bold" panose="020F0704030504030204" pitchFamily="34" charset="0"/>
                </a:rPr>
                <a:t> PIHPS. </a:t>
              </a:r>
            </a:p>
            <a:p>
              <a:r>
                <a:rPr lang="en-US" sz="1200" dirty="0">
                  <a:latin typeface="Arial Rounded MT Bold" panose="020F0704030504030204" pitchFamily="34" charset="0"/>
                </a:rPr>
                <a:t>2. </a:t>
              </a:r>
              <a:r>
                <a:rPr lang="en-US" sz="1200" b="1" dirty="0">
                  <a:latin typeface="Arial Rounded MT Bold" panose="020F0704030504030204" pitchFamily="34" charset="0"/>
                </a:rPr>
                <a:t>MVP &amp; Capstone (Bulan 3-4):</a:t>
              </a:r>
              <a:r>
                <a:rPr lang="en-US" sz="1200" dirty="0">
                  <a:latin typeface="Arial Rounded MT Bold" panose="020F0704030504030204" pitchFamily="34" charset="0"/>
                </a:rPr>
                <a:t> Deployment Smart Contract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testnet</a:t>
              </a:r>
              <a:r>
                <a:rPr lang="en-US" sz="1200" dirty="0">
                  <a:latin typeface="Arial Rounded MT Bold" panose="020F0704030504030204" pitchFamily="34" charset="0"/>
                </a:rPr>
                <a:t> Hyperledger Besu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simulasi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Mock-API SNAP. MVP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fungsional</a:t>
              </a:r>
              <a:r>
                <a:rPr lang="en-US" sz="1200" dirty="0">
                  <a:latin typeface="Arial Rounded MT Bold" panose="020F0704030504030204" pitchFamily="34" charset="0"/>
                </a:rPr>
                <a:t>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siap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didemonstrasikan</a:t>
              </a:r>
              <a:r>
                <a:rPr lang="en-US" sz="1200" dirty="0">
                  <a:latin typeface="Arial Rounded MT Bold" panose="020F0704030504030204" pitchFamily="34" charset="0"/>
                </a:rPr>
                <a:t> di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hadapan</a:t>
              </a:r>
              <a:r>
                <a:rPr lang="en-US" sz="1200" dirty="0">
                  <a:latin typeface="Arial Rounded MT Bold" panose="020F0704030504030204" pitchFamily="34" charset="0"/>
                </a:rPr>
                <a:t> investor dan regulator pada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fase</a:t>
              </a:r>
              <a:r>
                <a:rPr lang="en-US" sz="1200" dirty="0">
                  <a:latin typeface="Arial Rounded MT Bold" panose="020F0704030504030204" pitchFamily="34" charset="0"/>
                </a:rPr>
                <a:t> Business Matching.</a:t>
              </a:r>
            </a:p>
            <a:p>
              <a:r>
                <a:rPr lang="en-US" sz="1200" dirty="0">
                  <a:latin typeface="Arial Rounded MT Bold" panose="020F0704030504030204" pitchFamily="34" charset="0"/>
                </a:rPr>
                <a:t>3. </a:t>
              </a:r>
              <a:r>
                <a:rPr lang="en-US" sz="1200" b="1" dirty="0">
                  <a:latin typeface="Arial Rounded MT Bold" panose="020F0704030504030204" pitchFamily="34" charset="0"/>
                </a:rPr>
                <a:t>Pilot Project (Bulan 5-6):</a:t>
              </a:r>
              <a:r>
                <a:rPr lang="en-US" sz="1200" dirty="0">
                  <a:latin typeface="Arial Rounded MT Bold" panose="020F0704030504030204" pitchFamily="34" charset="0"/>
                </a:rPr>
                <a:t> Uji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coba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operasional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melibatkan</a:t>
              </a:r>
              <a:r>
                <a:rPr lang="en-US" sz="1200" dirty="0">
                  <a:latin typeface="Arial Rounded MT Bold" panose="020F0704030504030204" pitchFamily="34" charset="0"/>
                </a:rPr>
                <a:t> 500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 dan 5 bank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mitra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dipadukan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API IASC OJK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mitigasi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penipuan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secara</a:t>
              </a:r>
              <a:r>
                <a:rPr lang="en-US" sz="1200" dirty="0">
                  <a:latin typeface="Arial Rounded MT Bold" panose="020F0704030504030204" pitchFamily="34" charset="0"/>
                </a:rPr>
                <a:t> real-time.</a:t>
              </a:r>
            </a:p>
            <a:p>
              <a:r>
                <a:rPr lang="en-US" sz="1200" dirty="0">
                  <a:latin typeface="Arial Rounded MT Bold" panose="020F0704030504030204" pitchFamily="34" charset="0"/>
                </a:rPr>
                <a:t>4. </a:t>
              </a:r>
              <a:r>
                <a:rPr lang="en-US" sz="1200" b="1" dirty="0" err="1">
                  <a:latin typeface="Arial Rounded MT Bold" panose="020F0704030504030204" pitchFamily="34" charset="0"/>
                </a:rPr>
                <a:t>Ekspansi</a:t>
              </a:r>
              <a:r>
                <a:rPr lang="en-US" sz="1200" b="1" dirty="0">
                  <a:latin typeface="Arial Rounded MT Bold" panose="020F0704030504030204" pitchFamily="34" charset="0"/>
                </a:rPr>
                <a:t> (Bulan 7-12):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Pendaftaran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</a:t>
              </a:r>
              <a:r>
                <a:rPr lang="en-US" sz="1200" dirty="0">
                  <a:latin typeface="Arial Rounded MT Bold" panose="020F0704030504030204" pitchFamily="34" charset="0"/>
                </a:rPr>
                <a:t> Regulatory Sandbox OJK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penyesuaian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kelayakan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asesmen</a:t>
              </a:r>
              <a:r>
                <a:rPr lang="en-US" sz="1200" dirty="0">
                  <a:latin typeface="Arial Rounded MT Bold" panose="020F0704030504030204" pitchFamily="34" charset="0"/>
                </a:rPr>
                <a:t> TIKMI Bank Indonesia.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693333" cy="640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dirty="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implementation feasibility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4024148"/>
            <a:ext cx="6038425" cy="791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Bisnis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Model dan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Keberlanjutan</a:t>
            </a:r>
            <a:endParaRPr lang="en-US" sz="1300" dirty="0">
              <a:solidFill>
                <a:srgbClr val="0C2A52"/>
              </a:solidFill>
              <a:latin typeface="Oxanium"/>
              <a:ea typeface="Oxanium"/>
              <a:cs typeface="Oxanium"/>
              <a:sym typeface="Oxanium"/>
            </a:endParaRPr>
          </a:p>
          <a:p>
            <a:pPr algn="l">
              <a:lnSpc>
                <a:spcPts val="1540"/>
              </a:lnSpc>
            </a:pP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Gambarkan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bisnis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model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solusi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bentuk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business model canvas,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serta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1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lebih</a:t>
            </a:r>
            <a:r>
              <a:rPr lang="en-US" sz="11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detail.</a:t>
            </a:r>
          </a:p>
          <a:p>
            <a:pPr algn="l">
              <a:lnSpc>
                <a:spcPts val="1260"/>
              </a:lnSpc>
              <a:spcBef>
                <a:spcPct val="0"/>
              </a:spcBef>
            </a:pP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(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maks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 1000 </a:t>
            </a:r>
            <a:r>
              <a:rPr lang="en-US" sz="9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karakter</a:t>
            </a:r>
            <a:r>
              <a:rPr lang="en-US" sz="9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93706" y="10159188"/>
            <a:ext cx="20072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312149"/>
            <a:ext cx="6048000" cy="2589149"/>
            <a:chOff x="0" y="0"/>
            <a:chExt cx="1693333" cy="7249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724916"/>
            </a:xfrm>
            <a:custGeom>
              <a:avLst/>
              <a:gdLst/>
              <a:ahLst/>
              <a:cxnLst/>
              <a:rect l="l" t="t" r="r" b="b"/>
              <a:pathLst>
                <a:path w="1693333" h="724916">
                  <a:moveTo>
                    <a:pt x="0" y="0"/>
                  </a:moveTo>
                  <a:lnTo>
                    <a:pt x="1693333" y="0"/>
                  </a:lnTo>
                  <a:lnTo>
                    <a:pt x="1693333" y="724916"/>
                  </a:lnTo>
                  <a:lnTo>
                    <a:pt x="0" y="7249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753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4794347"/>
            <a:ext cx="6048000" cy="5141653"/>
            <a:chOff x="0" y="-28575"/>
            <a:chExt cx="1693333" cy="14395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1410997"/>
            </a:xfrm>
            <a:custGeom>
              <a:avLst/>
              <a:gdLst/>
              <a:ahLst/>
              <a:cxnLst/>
              <a:rect l="l" t="t" r="r" b="b"/>
              <a:pathLst>
                <a:path w="1693333" h="1410997">
                  <a:moveTo>
                    <a:pt x="0" y="0"/>
                  </a:moveTo>
                  <a:lnTo>
                    <a:pt x="1693333" y="0"/>
                  </a:lnTo>
                  <a:lnTo>
                    <a:pt x="1693333" y="1410997"/>
                  </a:lnTo>
                  <a:lnTo>
                    <a:pt x="0" y="14109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algn="just"/>
              <a:r>
                <a:rPr lang="en-US" sz="1200" b="1" dirty="0">
                  <a:latin typeface="Arial Rounded MT Bold" panose="020F0704030504030204" pitchFamily="34" charset="0"/>
                </a:rPr>
                <a:t>Business Model Canvas: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Customer Segments:</a:t>
              </a:r>
              <a:r>
                <a:rPr lang="en-US" sz="1200" dirty="0">
                  <a:latin typeface="Arial Rounded MT Bold" panose="020F0704030504030204" pitchFamily="34" charset="0"/>
                </a:rPr>
                <a:t> Bank (BPD/BPR),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Koperasi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, &amp; Regulator (BI/OJK).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Value Propositions: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tanpa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agunan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fisik</a:t>
              </a:r>
              <a:r>
                <a:rPr lang="en-US" sz="1200" dirty="0">
                  <a:latin typeface="Arial Rounded MT Bold" panose="020F0704030504030204" pitchFamily="34" charset="0"/>
                </a:rPr>
                <a:t>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Petani</a:t>
              </a:r>
              <a:r>
                <a:rPr lang="en-US" sz="1200" dirty="0">
                  <a:latin typeface="Arial Rounded MT Bold" panose="020F0704030504030204" pitchFamily="34" charset="0"/>
                </a:rPr>
                <a:t>);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penyaluran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KLM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rendah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risiko</a:t>
              </a:r>
              <a:r>
                <a:rPr lang="en-US" sz="1200" dirty="0">
                  <a:latin typeface="Arial Rounded MT Bold" panose="020F0704030504030204" pitchFamily="34" charset="0"/>
                </a:rPr>
                <a:t> (Bank);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dasbor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visibilitas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inflasi</a:t>
              </a:r>
              <a:r>
                <a:rPr lang="en-US" sz="1200" dirty="0">
                  <a:latin typeface="Arial Rounded MT Bold" panose="020F0704030504030204" pitchFamily="34" charset="0"/>
                </a:rPr>
                <a:t> (Regulator).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Channels:</a:t>
              </a:r>
              <a:r>
                <a:rPr lang="en-US" sz="1200" dirty="0">
                  <a:latin typeface="Arial Rounded MT Bold" panose="020F0704030504030204" pitchFamily="34" charset="0"/>
                </a:rPr>
                <a:t> Integrasi Open API SNAP BI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Dasbor</a:t>
              </a:r>
              <a:r>
                <a:rPr lang="en-US" sz="1200" dirty="0">
                  <a:latin typeface="Arial Rounded MT Bold" panose="020F0704030504030204" pitchFamily="34" charset="0"/>
                </a:rPr>
                <a:t> Web B2B.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Customer Relationships:</a:t>
              </a:r>
              <a:r>
                <a:rPr lang="en-US" sz="1200" dirty="0">
                  <a:latin typeface="Arial Rounded MT Bold" panose="020F0704030504030204" pitchFamily="34" charset="0"/>
                </a:rPr>
                <a:t> Dedicated B2B Support &amp; SLA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standar</a:t>
              </a:r>
              <a:r>
                <a:rPr lang="en-US" sz="1200" dirty="0">
                  <a:latin typeface="Arial Rounded MT Bold" panose="020F0704030504030204" pitchFamily="34" charset="0"/>
                </a:rPr>
                <a:t> Enterprise.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Revenue Streams:</a:t>
              </a:r>
              <a:r>
                <a:rPr lang="en-US" sz="1200" dirty="0">
                  <a:latin typeface="Arial Rounded MT Bold" panose="020F0704030504030204" pitchFamily="34" charset="0"/>
                </a:rPr>
                <a:t> API Call Fee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biaya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akses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skor</a:t>
              </a:r>
              <a:r>
                <a:rPr lang="en-US" sz="1200" dirty="0">
                  <a:latin typeface="Arial Rounded MT Bold" panose="020F0704030504030204" pitchFamily="34" charset="0"/>
                </a:rPr>
                <a:t>), Lead Gen Fee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komisi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kredit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cair</a:t>
              </a:r>
              <a:r>
                <a:rPr lang="en-US" sz="1200" dirty="0">
                  <a:latin typeface="Arial Rounded MT Bold" panose="020F0704030504030204" pitchFamily="34" charset="0"/>
                </a:rPr>
                <a:t>), &amp; Data-as-a-Service (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langganan</a:t>
              </a:r>
              <a:r>
                <a:rPr lang="en-US" sz="1200" dirty="0">
                  <a:latin typeface="Arial Rounded MT Bold" panose="020F0704030504030204" pitchFamily="34" charset="0"/>
                </a:rPr>
                <a:t> data).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Key Resources:</a:t>
              </a:r>
              <a:r>
                <a:rPr lang="en-US" sz="1200" dirty="0">
                  <a:latin typeface="Arial Rounded MT Bold" panose="020F0704030504030204" pitchFamily="34" charset="0"/>
                </a:rPr>
                <a:t> Model AI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Hibrida</a:t>
              </a:r>
              <a:r>
                <a:rPr lang="en-US" sz="1200" dirty="0">
                  <a:latin typeface="Arial Rounded MT Bold" panose="020F0704030504030204" pitchFamily="34" charset="0"/>
                </a:rPr>
                <a:t>, Node Hyperledger Besu,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Talenta</a:t>
              </a:r>
              <a:r>
                <a:rPr lang="en-US" sz="1200" dirty="0">
                  <a:latin typeface="Arial Rounded MT Bold" panose="020F0704030504030204" pitchFamily="34" charset="0"/>
                </a:rPr>
                <a:t> Digital.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Key Activities:</a:t>
              </a:r>
              <a:r>
                <a:rPr lang="en-US" sz="1200" dirty="0">
                  <a:latin typeface="Arial Rounded MT Bold" panose="020F0704030504030204" pitchFamily="34" charset="0"/>
                </a:rPr>
                <a:t> R&amp;D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algoritma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prediktif</a:t>
              </a:r>
              <a:r>
                <a:rPr lang="en-US" sz="1200" dirty="0">
                  <a:latin typeface="Arial Rounded MT Bold" panose="020F0704030504030204" pitchFamily="34" charset="0"/>
                </a:rPr>
                <a:t>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pemeliharaan</a:t>
              </a:r>
              <a:r>
                <a:rPr lang="en-US" sz="1200" dirty="0">
                  <a:latin typeface="Arial Rounded MT Bold" panose="020F0704030504030204" pitchFamily="34" charset="0"/>
                </a:rPr>
                <a:t> blockchain,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kepatuhan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regulasi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Key Partnerships:</a:t>
              </a:r>
              <a:r>
                <a:rPr lang="en-US" sz="1200" dirty="0">
                  <a:latin typeface="Arial Rounded MT Bold" panose="020F0704030504030204" pitchFamily="34" charset="0"/>
                </a:rPr>
                <a:t> Bank Mitra,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Agregator</a:t>
              </a:r>
              <a:r>
                <a:rPr lang="en-US" sz="1200" dirty="0">
                  <a:latin typeface="Arial Rounded MT Bold" panose="020F0704030504030204" pitchFamily="34" charset="0"/>
                </a:rPr>
                <a:t> Logistik,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serta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integrasi</a:t>
              </a:r>
              <a:r>
                <a:rPr lang="en-US" sz="1200" dirty="0">
                  <a:latin typeface="Arial Rounded MT Bold" panose="020F0704030504030204" pitchFamily="34" charset="0"/>
                </a:rPr>
                <a:t> OJK (IASC) &amp; BI.</a:t>
              </a:r>
            </a:p>
            <a:p>
              <a:pPr marL="171450" indent="-171450" algn="just">
                <a:buFont typeface="Arial Rounded MT Bold" panose="020F0704030504030204" pitchFamily="34" charset="0"/>
                <a:buChar char="–"/>
              </a:pPr>
              <a:r>
                <a:rPr lang="en-US" sz="1200" b="1" dirty="0">
                  <a:latin typeface="Arial Rounded MT Bold" panose="020F0704030504030204" pitchFamily="34" charset="0"/>
                </a:rPr>
                <a:t>Cost Structure: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Infrastruktur</a:t>
              </a:r>
              <a:r>
                <a:rPr lang="en-US" sz="1200" dirty="0">
                  <a:latin typeface="Arial Rounded MT Bold" panose="020F0704030504030204" pitchFamily="34" charset="0"/>
                </a:rPr>
                <a:t> Cloud/Node,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sistem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enkripsi</a:t>
              </a:r>
              <a:r>
                <a:rPr lang="en-US" sz="1200" dirty="0">
                  <a:latin typeface="Arial Rounded MT Bold" panose="020F0704030504030204" pitchFamily="34" charset="0"/>
                </a:rPr>
                <a:t> (AES-256), &amp;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lisensi</a:t>
              </a:r>
              <a:r>
                <a:rPr lang="en-US" sz="1200" dirty="0">
                  <a:latin typeface="Arial Rounded MT Bold" panose="020F0704030504030204" pitchFamily="34" charset="0"/>
                </a:rPr>
                <a:t> TIKMI.</a:t>
              </a:r>
            </a:p>
            <a:p>
              <a:pPr algn="just"/>
              <a:r>
                <a:rPr lang="en-US" sz="1200" b="1" dirty="0" err="1">
                  <a:latin typeface="Arial Rounded MT Bold" panose="020F0704030504030204" pitchFamily="34" charset="0"/>
                </a:rPr>
                <a:t>Keberlanjutan</a:t>
              </a:r>
              <a:r>
                <a:rPr lang="en-US" sz="1200" b="1" dirty="0">
                  <a:latin typeface="Arial Rounded MT Bold" panose="020F0704030504030204" pitchFamily="34" charset="0"/>
                </a:rPr>
                <a:t>:</a:t>
              </a:r>
              <a:r>
                <a:rPr lang="en-US" sz="1200" dirty="0">
                  <a:latin typeface="Arial Rounded MT Bold" panose="020F0704030504030204" pitchFamily="34" charset="0"/>
                </a:rPr>
                <a:t> GARUDA-LINK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mengadopsi</a:t>
              </a:r>
              <a:r>
                <a:rPr lang="en-US" sz="1200" dirty="0">
                  <a:latin typeface="Arial Rounded MT Bold" panose="020F0704030504030204" pitchFamily="34" charset="0"/>
                </a:rPr>
                <a:t> model </a:t>
              </a:r>
              <a:r>
                <a:rPr lang="en-US" sz="1200" i="1" dirty="0">
                  <a:latin typeface="Arial Rounded MT Bold" panose="020F0704030504030204" pitchFamily="34" charset="0"/>
                </a:rPr>
                <a:t>middleware</a:t>
              </a:r>
              <a:r>
                <a:rPr lang="en-US" sz="1200" dirty="0">
                  <a:latin typeface="Arial Rounded MT Bold" panose="020F0704030504030204" pitchFamily="34" charset="0"/>
                </a:rPr>
                <a:t> B2B2B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prinsip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i="1" dirty="0">
                  <a:latin typeface="Arial Rounded MT Bold" panose="020F0704030504030204" pitchFamily="34" charset="0"/>
                </a:rPr>
                <a:t>Zero Burn Rate</a:t>
              </a:r>
              <a:r>
                <a:rPr lang="en-US" sz="1200" dirty="0">
                  <a:latin typeface="Arial Rounded MT Bold" panose="020F0704030504030204" pitchFamily="34" charset="0"/>
                </a:rPr>
                <a:t>. Kami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menolak</a:t>
              </a:r>
              <a:r>
                <a:rPr lang="en-US" sz="1200" dirty="0">
                  <a:latin typeface="Arial Rounded MT Bold" panose="020F0704030504030204" pitchFamily="34" charset="0"/>
                </a:rPr>
                <a:t> strategi "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bakar</a:t>
              </a:r>
              <a:r>
                <a:rPr lang="en-US" sz="1200" dirty="0">
                  <a:latin typeface="Arial Rounded MT Bold" panose="020F0704030504030204" pitchFamily="34" charset="0"/>
                </a:rPr>
                <a:t> uang"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untuk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akuisisi</a:t>
              </a:r>
              <a:r>
                <a:rPr lang="en-US" sz="1200" dirty="0">
                  <a:latin typeface="Arial Rounded MT Bold" panose="020F0704030504030204" pitchFamily="34" charset="0"/>
                </a:rPr>
                <a:t> pasar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ritel</a:t>
              </a:r>
              <a:r>
                <a:rPr lang="en-US" sz="1200" dirty="0">
                  <a:latin typeface="Arial Rounded MT Bold" panose="020F0704030504030204" pitchFamily="34" charset="0"/>
                </a:rPr>
                <a:t>.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Dengan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memonetisasi</a:t>
              </a:r>
              <a:r>
                <a:rPr lang="en-US" sz="1200" dirty="0">
                  <a:latin typeface="Arial Rounded MT Bold" panose="020F0704030504030204" pitchFamily="34" charset="0"/>
                </a:rPr>
                <a:t> basis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nasabah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eksisting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dari</a:t>
              </a:r>
              <a:r>
                <a:rPr lang="en-US" sz="1200" dirty="0">
                  <a:latin typeface="Arial Rounded MT Bold" panose="020F0704030504030204" pitchFamily="34" charset="0"/>
                </a:rPr>
                <a:t> bank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mitra</a:t>
              </a:r>
              <a:r>
                <a:rPr lang="en-US" sz="1200" dirty="0">
                  <a:latin typeface="Arial Rounded MT Bold" panose="020F0704030504030204" pitchFamily="34" charset="0"/>
                </a:rPr>
                <a:t> via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pemanggilan</a:t>
              </a:r>
              <a:r>
                <a:rPr lang="en-US" sz="1200" dirty="0">
                  <a:latin typeface="Arial Rounded MT Bold" panose="020F0704030504030204" pitchFamily="34" charset="0"/>
                </a:rPr>
                <a:t> API, model ini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memastikan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titik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impas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cepat</a:t>
              </a:r>
              <a:r>
                <a:rPr lang="en-US" sz="1200" dirty="0">
                  <a:latin typeface="Arial Rounded MT Bold" panose="020F0704030504030204" pitchFamily="34" charset="0"/>
                </a:rPr>
                <a:t> dan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ekonomi</a:t>
              </a:r>
              <a:r>
                <a:rPr lang="en-US" sz="1200" dirty="0">
                  <a:latin typeface="Arial Rounded MT Bold" panose="020F0704030504030204" pitchFamily="34" charset="0"/>
                </a:rPr>
                <a:t> unit yang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positif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jangka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panjang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seiring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bertumbuhnya</a:t>
              </a:r>
              <a:r>
                <a:rPr lang="en-US" sz="1200" dirty="0">
                  <a:latin typeface="Arial Rounded MT Bold" panose="020F0704030504030204" pitchFamily="34" charset="0"/>
                </a:rPr>
                <a:t> volume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pembiayaan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inklusif</a:t>
              </a:r>
              <a:r>
                <a:rPr lang="en-US" sz="1200" dirty="0">
                  <a:latin typeface="Arial Rounded MT Bold" panose="020F0704030504030204" pitchFamily="34" charset="0"/>
                </a:rPr>
                <a:t> </a:t>
              </a:r>
              <a:r>
                <a:rPr lang="en-US" sz="1200" dirty="0" err="1">
                  <a:latin typeface="Arial Rounded MT Bold" panose="020F0704030504030204" pitchFamily="34" charset="0"/>
                </a:rPr>
                <a:t>nasional</a:t>
              </a:r>
              <a:r>
                <a:rPr lang="en-US" sz="1200" dirty="0">
                  <a:latin typeface="Arial Rounded MT Bold" panose="020F0704030504030204" pitchFamily="34" charset="0"/>
                </a:rPr>
                <a:t>.</a:t>
              </a:r>
            </a:p>
            <a:p>
              <a:pPr algn="just"/>
              <a:endParaRPr lang="en-US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1439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C4256E08-CD2F-293D-5916-5DA93DCDDCA6}"/>
              </a:ext>
            </a:extLst>
          </p:cNvPr>
          <p:cNvSpPr txBox="1"/>
          <p:nvPr/>
        </p:nvSpPr>
        <p:spPr>
          <a:xfrm>
            <a:off x="1888331" y="-1345853"/>
            <a:ext cx="37766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12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6000" y="679800"/>
            <a:ext cx="6048000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attachment &amp; reference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000" y="1163737"/>
            <a:ext cx="6038425" cy="93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0671" lvl="1" indent="-140336" algn="l">
              <a:lnSpc>
                <a:spcPts val="1820"/>
              </a:lnSpc>
              <a:buFont typeface="Arial"/>
              <a:buChar char="•"/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Lampirkan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capturing mockup / POC / prototype / pilot project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relevan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dengan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proyek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berupa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screenshoot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jika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ada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(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tidak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mandatory).</a:t>
            </a:r>
          </a:p>
          <a:p>
            <a:pPr marL="280671" lvl="1" indent="-140336" algn="l">
              <a:lnSpc>
                <a:spcPts val="1820"/>
              </a:lnSpc>
              <a:buFont typeface="Arial"/>
              <a:buChar char="•"/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Lampirkan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hal-hal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belum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jelaskan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dalam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uraian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di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atas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  <a:p>
            <a:pPr marL="280671" lvl="1" indent="-140336" algn="l">
              <a:lnSpc>
                <a:spcPts val="1820"/>
              </a:lnSpc>
              <a:spcBef>
                <a:spcPct val="0"/>
              </a:spcBef>
              <a:buFont typeface="Arial"/>
              <a:buChar char="•"/>
            </a:pP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Berikan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referensi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dari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sumber-sumber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 yang Anda </a:t>
            </a:r>
            <a:r>
              <a:rPr lang="en-US" sz="1300" dirty="0" err="1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kutip</a:t>
            </a:r>
            <a:r>
              <a:rPr lang="en-US" sz="1300" dirty="0">
                <a:solidFill>
                  <a:srgbClr val="0C2A52"/>
                </a:solidFill>
                <a:latin typeface="Oxanium"/>
                <a:ea typeface="Oxanium"/>
                <a:cs typeface="Oxanium"/>
                <a:sym typeface="Oxanium"/>
              </a:rPr>
              <a:t>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88150" y="10159188"/>
            <a:ext cx="206276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2228148"/>
            <a:ext cx="6048000" cy="7707852"/>
            <a:chOff x="0" y="0"/>
            <a:chExt cx="1693333" cy="21580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2158062"/>
            </a:xfrm>
            <a:custGeom>
              <a:avLst/>
              <a:gdLst/>
              <a:ahLst/>
              <a:cxnLst/>
              <a:rect l="l" t="t" r="r" b="b"/>
              <a:pathLst>
                <a:path w="1693333" h="2158062">
                  <a:moveTo>
                    <a:pt x="0" y="0"/>
                  </a:moveTo>
                  <a:lnTo>
                    <a:pt x="1693333" y="0"/>
                  </a:lnTo>
                  <a:lnTo>
                    <a:pt x="1693333" y="2158062"/>
                  </a:lnTo>
                  <a:lnTo>
                    <a:pt x="0" y="21580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2186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A68D821-8684-C649-964E-FC1F01D86E70}"/>
              </a:ext>
            </a:extLst>
          </p:cNvPr>
          <p:cNvSpPr txBox="1"/>
          <p:nvPr/>
        </p:nvSpPr>
        <p:spPr>
          <a:xfrm>
            <a:off x="752500" y="2732214"/>
            <a:ext cx="6032350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A. Lampiran Visual (Mockup &amp; </a:t>
            </a:r>
            <a:r>
              <a:rPr lang="en-US" sz="1100" dirty="0" err="1">
                <a:latin typeface="Arial Rounded MT Bold" panose="020F0704030504030204" pitchFamily="34" charset="0"/>
              </a:rPr>
              <a:t>Prototipe</a:t>
            </a:r>
            <a:r>
              <a:rPr lang="en-US" sz="1100" dirty="0">
                <a:latin typeface="Arial Rounded MT Bold" panose="020F0704030504030204" pitchFamily="34" charset="0"/>
              </a:rPr>
              <a:t>)</a:t>
            </a: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(</a:t>
            </a:r>
            <a:r>
              <a:rPr lang="en-US" sz="1100" dirty="0" err="1">
                <a:latin typeface="Arial Rounded MT Bold" panose="020F0704030504030204" pitchFamily="34" charset="0"/>
              </a:rPr>
              <a:t>Silakan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ambil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tangkapan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layar</a:t>
            </a:r>
            <a:r>
              <a:rPr lang="en-US" sz="1100" dirty="0">
                <a:latin typeface="Arial Rounded MT Bold" panose="020F0704030504030204" pitchFamily="34" charset="0"/>
              </a:rPr>
              <a:t>/screenshot </a:t>
            </a:r>
            <a:r>
              <a:rPr lang="en-US" sz="1100" dirty="0" err="1">
                <a:latin typeface="Arial Rounded MT Bold" panose="020F0704030504030204" pitchFamily="34" charset="0"/>
              </a:rPr>
              <a:t>dari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desain</a:t>
            </a:r>
            <a:r>
              <a:rPr lang="en-US" sz="1100" dirty="0">
                <a:latin typeface="Arial Rounded MT Bold" panose="020F0704030504030204" pitchFamily="34" charset="0"/>
              </a:rPr>
              <a:t> Figma atau diagram </a:t>
            </a:r>
            <a:r>
              <a:rPr lang="en-US" sz="1100" dirty="0" err="1">
                <a:latin typeface="Arial Rounded MT Bold" panose="020F0704030504030204" pitchFamily="34" charset="0"/>
              </a:rPr>
              <a:t>arsitektur</a:t>
            </a:r>
            <a:r>
              <a:rPr lang="en-US" sz="1100" dirty="0">
                <a:latin typeface="Arial Rounded MT Bold" panose="020F0704030504030204" pitchFamily="34" charset="0"/>
              </a:rPr>
              <a:t> Anda, </a:t>
            </a:r>
            <a:r>
              <a:rPr lang="en-US" sz="1100" dirty="0" err="1">
                <a:latin typeface="Arial Rounded MT Bold" panose="020F0704030504030204" pitchFamily="34" charset="0"/>
              </a:rPr>
              <a:t>lalu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sisipkan</a:t>
            </a:r>
            <a:r>
              <a:rPr lang="en-US" sz="1100" dirty="0">
                <a:latin typeface="Arial Rounded MT Bold" panose="020F0704030504030204" pitchFamily="34" charset="0"/>
              </a:rPr>
              <a:t> di </a:t>
            </a:r>
            <a:r>
              <a:rPr lang="en-US" sz="1100" dirty="0" err="1">
                <a:latin typeface="Arial Rounded MT Bold" panose="020F0704030504030204" pitchFamily="34" charset="0"/>
              </a:rPr>
              <a:t>bagian</a:t>
            </a:r>
            <a:r>
              <a:rPr lang="en-US" sz="1100" dirty="0">
                <a:latin typeface="Arial Rounded MT Bold" panose="020F0704030504030204" pitchFamily="34" charset="0"/>
              </a:rPr>
              <a:t> ini di </a:t>
            </a:r>
            <a:r>
              <a:rPr lang="en-US" sz="1100" dirty="0" err="1">
                <a:latin typeface="Arial Rounded MT Bold" panose="020F0704030504030204" pitchFamily="34" charset="0"/>
              </a:rPr>
              <a:t>dalam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dokumen</a:t>
            </a:r>
            <a:r>
              <a:rPr lang="en-US" sz="1100" dirty="0">
                <a:latin typeface="Arial Rounded MT Bold" panose="020F0704030504030204" pitchFamily="34" charset="0"/>
              </a:rPr>
              <a:t> PDF).</a:t>
            </a: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[Screenshot 1: </a:t>
            </a:r>
            <a:r>
              <a:rPr lang="en-US" sz="1100" dirty="0" err="1">
                <a:latin typeface="Arial Rounded MT Bold" panose="020F0704030504030204" pitchFamily="34" charset="0"/>
              </a:rPr>
              <a:t>Arsitektur</a:t>
            </a:r>
            <a:r>
              <a:rPr lang="en-US" sz="1100" dirty="0">
                <a:latin typeface="Arial Rounded MT Bold" panose="020F0704030504030204" pitchFamily="34" charset="0"/>
              </a:rPr>
              <a:t> Hybrid Intelligence GARUDA-LINK] (</a:t>
            </a:r>
            <a:r>
              <a:rPr lang="en-US" sz="1100" dirty="0" err="1">
                <a:latin typeface="Arial Rounded MT Bold" panose="020F0704030504030204" pitchFamily="34" charset="0"/>
              </a:rPr>
              <a:t>Sisipkan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gambar</a:t>
            </a:r>
            <a:r>
              <a:rPr lang="en-US" sz="1100" dirty="0">
                <a:latin typeface="Arial Rounded MT Bold" panose="020F0704030504030204" pitchFamily="34" charset="0"/>
              </a:rPr>
              <a:t> diagram </a:t>
            </a:r>
            <a:r>
              <a:rPr lang="en-US" sz="1100" dirty="0" err="1">
                <a:latin typeface="Arial Rounded MT Bold" panose="020F0704030504030204" pitchFamily="34" charset="0"/>
              </a:rPr>
              <a:t>topologi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sistem</a:t>
            </a:r>
            <a:r>
              <a:rPr lang="en-US" sz="1100" dirty="0">
                <a:latin typeface="Arial Rounded MT Bold" panose="020F0704030504030204" pitchFamily="34" charset="0"/>
              </a:rPr>
              <a:t> yang </a:t>
            </a:r>
            <a:r>
              <a:rPr lang="en-US" sz="1100" dirty="0" err="1">
                <a:latin typeface="Arial Rounded MT Bold" panose="020F0704030504030204" pitchFamily="34" charset="0"/>
              </a:rPr>
              <a:t>menunjukkan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integrasi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antara</a:t>
            </a:r>
            <a:r>
              <a:rPr lang="en-US" sz="1100" dirty="0">
                <a:latin typeface="Arial Rounded MT Bold" panose="020F0704030504030204" pitchFamily="34" charset="0"/>
              </a:rPr>
              <a:t> Data PIHPS, Model </a:t>
            </a:r>
            <a:r>
              <a:rPr lang="en-US" sz="1100" dirty="0" err="1">
                <a:latin typeface="Arial Rounded MT Bold" panose="020F0704030504030204" pitchFamily="34" charset="0"/>
              </a:rPr>
              <a:t>XGBoost</a:t>
            </a:r>
            <a:r>
              <a:rPr lang="en-US" sz="1100" dirty="0">
                <a:latin typeface="Arial Rounded MT Bold" panose="020F0704030504030204" pitchFamily="34" charset="0"/>
              </a:rPr>
              <a:t>-LSTM, </a:t>
            </a:r>
            <a:r>
              <a:rPr lang="en-US" sz="1100" dirty="0" err="1">
                <a:latin typeface="Arial Rounded MT Bold" panose="020F0704030504030204" pitchFamily="34" charset="0"/>
              </a:rPr>
              <a:t>Algoritma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Genetika</a:t>
            </a:r>
            <a:r>
              <a:rPr lang="en-US" sz="1100" dirty="0">
                <a:latin typeface="Arial Rounded MT Bold" panose="020F0704030504030204" pitchFamily="34" charset="0"/>
              </a:rPr>
              <a:t>/PPO, dan </a:t>
            </a:r>
            <a:r>
              <a:rPr lang="en-US" sz="1100" dirty="0" err="1">
                <a:latin typeface="Arial Rounded MT Bold" panose="020F0704030504030204" pitchFamily="34" charset="0"/>
              </a:rPr>
              <a:t>jaringan</a:t>
            </a:r>
            <a:r>
              <a:rPr lang="en-US" sz="1100" dirty="0">
                <a:latin typeface="Arial Rounded MT Bold" panose="020F0704030504030204" pitchFamily="34" charset="0"/>
              </a:rPr>
              <a:t> Blockchain Hyperledger Besu).</a:t>
            </a: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[Screenshot 2: </a:t>
            </a:r>
            <a:r>
              <a:rPr lang="en-US" sz="1100" dirty="0" err="1">
                <a:latin typeface="Arial Rounded MT Bold" panose="020F0704030504030204" pitchFamily="34" charset="0"/>
              </a:rPr>
              <a:t>Antarmuka</a:t>
            </a:r>
            <a:r>
              <a:rPr lang="en-US" sz="1100" dirty="0">
                <a:latin typeface="Arial Rounded MT Bold" panose="020F0704030504030204" pitchFamily="34" charset="0"/>
              </a:rPr>
              <a:t> Dashboard </a:t>
            </a:r>
            <a:r>
              <a:rPr lang="en-US" sz="1100" dirty="0" err="1">
                <a:latin typeface="Arial Rounded MT Bold" panose="020F0704030504030204" pitchFamily="34" charset="0"/>
              </a:rPr>
              <a:t>Petani</a:t>
            </a:r>
            <a:r>
              <a:rPr lang="en-US" sz="1100" dirty="0">
                <a:latin typeface="Arial Rounded MT Bold" panose="020F0704030504030204" pitchFamily="34" charset="0"/>
              </a:rPr>
              <a:t> &amp; </a:t>
            </a:r>
            <a:r>
              <a:rPr lang="en-US" sz="1100" dirty="0" err="1">
                <a:latin typeface="Arial Rounded MT Bold" panose="020F0704030504030204" pitchFamily="34" charset="0"/>
              </a:rPr>
              <a:t>Visibilitas</a:t>
            </a:r>
            <a:r>
              <a:rPr lang="en-US" sz="1100" dirty="0">
                <a:latin typeface="Arial Rounded MT Bold" panose="020F0704030504030204" pitchFamily="34" charset="0"/>
              </a:rPr>
              <a:t> Regulator] (</a:t>
            </a:r>
            <a:r>
              <a:rPr lang="en-US" sz="1100" dirty="0" err="1">
                <a:latin typeface="Arial Rounded MT Bold" panose="020F0704030504030204" pitchFamily="34" charset="0"/>
              </a:rPr>
              <a:t>Sisipkan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gambar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antarmuka</a:t>
            </a:r>
            <a:r>
              <a:rPr lang="en-US" sz="1100" dirty="0">
                <a:latin typeface="Arial Rounded MT Bold" panose="020F0704030504030204" pitchFamily="34" charset="0"/>
              </a:rPr>
              <a:t> (UI) </a:t>
            </a:r>
            <a:r>
              <a:rPr lang="en-US" sz="1100" dirty="0" err="1">
                <a:latin typeface="Arial Rounded MT Bold" panose="020F0704030504030204" pitchFamily="34" charset="0"/>
              </a:rPr>
              <a:t>aplikasi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seluler</a:t>
            </a:r>
            <a:r>
              <a:rPr lang="en-US" sz="1100" dirty="0">
                <a:latin typeface="Arial Rounded MT Bold" panose="020F0704030504030204" pitchFamily="34" charset="0"/>
              </a:rPr>
              <a:t>/web yang </a:t>
            </a:r>
            <a:r>
              <a:rPr lang="en-US" sz="1100" dirty="0" err="1">
                <a:latin typeface="Arial Rounded MT Bold" panose="020F0704030504030204" pitchFamily="34" charset="0"/>
              </a:rPr>
              <a:t>menampilkan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prediksi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harga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adil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bagi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petani</a:t>
            </a:r>
            <a:r>
              <a:rPr lang="en-US" sz="1100" dirty="0">
                <a:latin typeface="Arial Rounded MT Bold" panose="020F0704030504030204" pitchFamily="34" charset="0"/>
              </a:rPr>
              <a:t> dan </a:t>
            </a:r>
            <a:r>
              <a:rPr lang="en-US" sz="1100" dirty="0" err="1">
                <a:latin typeface="Arial Rounded MT Bold" panose="020F0704030504030204" pitchFamily="34" charset="0"/>
              </a:rPr>
              <a:t>pencatatan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riwayat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logistik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komoditas</a:t>
            </a:r>
            <a:r>
              <a:rPr lang="en-US" sz="1100" dirty="0">
                <a:latin typeface="Arial Rounded MT Bold" panose="020F0704030504030204" pitchFamily="34" charset="0"/>
              </a:rPr>
              <a:t>).</a:t>
            </a: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[Screenshot 3: </a:t>
            </a:r>
            <a:r>
              <a:rPr lang="en-US" sz="1100" dirty="0" err="1">
                <a:latin typeface="Arial Rounded MT Bold" panose="020F0704030504030204" pitchFamily="34" charset="0"/>
              </a:rPr>
              <a:t>Simulasi</a:t>
            </a:r>
            <a:r>
              <a:rPr lang="en-US" sz="1100" dirty="0">
                <a:latin typeface="Arial Rounded MT Bold" panose="020F0704030504030204" pitchFamily="34" charset="0"/>
              </a:rPr>
              <a:t> Smart Contract &amp; Integrasi API SNAP] (</a:t>
            </a:r>
            <a:r>
              <a:rPr lang="en-US" sz="1100" dirty="0" err="1">
                <a:latin typeface="Arial Rounded MT Bold" panose="020F0704030504030204" pitchFamily="34" charset="0"/>
              </a:rPr>
              <a:t>Sisipkan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cuplikan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kode</a:t>
            </a:r>
            <a:r>
              <a:rPr lang="en-US" sz="1100" dirty="0">
                <a:latin typeface="Arial Rounded MT Bold" panose="020F0704030504030204" pitchFamily="34" charset="0"/>
              </a:rPr>
              <a:t>/Mock-API yang </a:t>
            </a:r>
            <a:r>
              <a:rPr lang="en-US" sz="1100" dirty="0" err="1">
                <a:latin typeface="Arial Rounded MT Bold" panose="020F0704030504030204" pitchFamily="34" charset="0"/>
              </a:rPr>
              <a:t>menunjukkan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penerbitan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jaminan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semu</a:t>
            </a:r>
            <a:r>
              <a:rPr lang="en-US" sz="1100" dirty="0">
                <a:latin typeface="Arial Rounded MT Bold" panose="020F0704030504030204" pitchFamily="34" charset="0"/>
              </a:rPr>
              <a:t> (quasi-collateral) dan </a:t>
            </a:r>
            <a:r>
              <a:rPr lang="en-US" sz="1100" dirty="0" err="1">
                <a:latin typeface="Arial Rounded MT Bold" panose="020F0704030504030204" pitchFamily="34" charset="0"/>
              </a:rPr>
              <a:t>interkoneksinya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dengan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perbankan</a:t>
            </a:r>
            <a:r>
              <a:rPr lang="en-US" sz="1100" dirty="0">
                <a:latin typeface="Arial Rounded MT Bold" panose="020F0704030504030204" pitchFamily="34" charset="0"/>
              </a:rPr>
              <a:t> via SNAP BI).</a:t>
            </a:r>
          </a:p>
          <a:p>
            <a:pPr algn="just"/>
            <a:endParaRPr lang="en-US" sz="11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B. Hal-</a:t>
            </a:r>
            <a:r>
              <a:rPr lang="en-US" sz="1100" dirty="0" err="1">
                <a:latin typeface="Arial Rounded MT Bold" panose="020F0704030504030204" pitchFamily="34" charset="0"/>
              </a:rPr>
              <a:t>hal</a:t>
            </a:r>
            <a:r>
              <a:rPr lang="en-US" sz="1100" dirty="0">
                <a:latin typeface="Arial Rounded MT Bold" panose="020F0704030504030204" pitchFamily="34" charset="0"/>
              </a:rPr>
              <a:t> yang Belum </a:t>
            </a:r>
            <a:r>
              <a:rPr lang="en-US" sz="1100" dirty="0" err="1">
                <a:latin typeface="Arial Rounded MT Bold" panose="020F0704030504030204" pitchFamily="34" charset="0"/>
              </a:rPr>
              <a:t>Dijelaskan</a:t>
            </a:r>
            <a:r>
              <a:rPr lang="en-US" sz="1100" dirty="0">
                <a:latin typeface="Arial Rounded MT Bold" panose="020F0704030504030204" pitchFamily="34" charset="0"/>
              </a:rPr>
              <a:t> (</a:t>
            </a:r>
            <a:r>
              <a:rPr lang="en-US" sz="1100" dirty="0" err="1">
                <a:latin typeface="Arial Rounded MT Bold" panose="020F0704030504030204" pitchFamily="34" charset="0"/>
              </a:rPr>
              <a:t>Catatan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Eksekusi</a:t>
            </a:r>
            <a:r>
              <a:rPr lang="en-US" sz="1100" dirty="0">
                <a:latin typeface="Arial Rounded MT Bold" panose="020F0704030504030204" pitchFamily="34" charset="0"/>
              </a:rPr>
              <a:t> Teknis)</a:t>
            </a:r>
          </a:p>
          <a:p>
            <a:pPr algn="just"/>
            <a:r>
              <a:rPr lang="en-US" sz="1100" dirty="0" err="1">
                <a:latin typeface="Arial Rounded MT Bold" panose="020F0704030504030204" pitchFamily="34" charset="0"/>
              </a:rPr>
              <a:t>Pengembangan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solusi</a:t>
            </a:r>
            <a:r>
              <a:rPr lang="en-US" sz="1100" dirty="0">
                <a:latin typeface="Arial Rounded MT Bold" panose="020F0704030504030204" pitchFamily="34" charset="0"/>
              </a:rPr>
              <a:t> GARUDA-LINK </a:t>
            </a:r>
            <a:r>
              <a:rPr lang="en-US" sz="1100" dirty="0" err="1">
                <a:latin typeface="Arial Rounded MT Bold" panose="020F0704030504030204" pitchFamily="34" charset="0"/>
              </a:rPr>
              <a:t>secara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ketat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mengeliminasi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praktik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pengkodean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impulsif</a:t>
            </a:r>
            <a:r>
              <a:rPr lang="en-US" sz="1100" dirty="0">
                <a:latin typeface="Arial Rounded MT Bold" panose="020F0704030504030204" pitchFamily="34" charset="0"/>
              </a:rPr>
              <a:t> (vibe coding). </a:t>
            </a:r>
            <a:r>
              <a:rPr lang="en-US" sz="1100" dirty="0" err="1">
                <a:latin typeface="Arial Rounded MT Bold" panose="020F0704030504030204" pitchFamily="34" charset="0"/>
              </a:rPr>
              <a:t>Seluruh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arsitektur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prototipe</a:t>
            </a:r>
            <a:r>
              <a:rPr lang="en-US" sz="1100" dirty="0">
                <a:latin typeface="Arial Rounded MT Bold" panose="020F0704030504030204" pitchFamily="34" charset="0"/>
              </a:rPr>
              <a:t> ini </a:t>
            </a:r>
            <a:r>
              <a:rPr lang="en-US" sz="1100" dirty="0" err="1">
                <a:latin typeface="Arial Rounded MT Bold" panose="020F0704030504030204" pitchFamily="34" charset="0"/>
              </a:rPr>
              <a:t>dibangun</a:t>
            </a:r>
            <a:r>
              <a:rPr lang="en-US" sz="1100" dirty="0">
                <a:latin typeface="Arial Rounded MT Bold" panose="020F0704030504030204" pitchFamily="34" charset="0"/>
              </a:rPr>
              <a:t> dan </a:t>
            </a:r>
            <a:r>
              <a:rPr lang="en-US" sz="1100" dirty="0" err="1">
                <a:latin typeface="Arial Rounded MT Bold" panose="020F0704030504030204" pitchFamily="34" charset="0"/>
              </a:rPr>
              <a:t>didokumentasikan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menggunakan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metodologi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pengembangan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berbantuan</a:t>
            </a:r>
            <a:r>
              <a:rPr lang="en-US" sz="1100" dirty="0">
                <a:latin typeface="Arial Rounded MT Bold" panose="020F0704030504030204" pitchFamily="34" charset="0"/>
              </a:rPr>
              <a:t> AI, </a:t>
            </a:r>
            <a:r>
              <a:rPr lang="en-US" sz="1100" dirty="0" err="1">
                <a:latin typeface="Arial Rounded MT Bold" panose="020F0704030504030204" pitchFamily="34" charset="0"/>
              </a:rPr>
              <a:t>yaitu</a:t>
            </a:r>
            <a:r>
              <a:rPr lang="en-US" sz="1100" dirty="0">
                <a:latin typeface="Arial Rounded MT Bold" panose="020F0704030504030204" pitchFamily="34" charset="0"/>
              </a:rPr>
              <a:t> Spec-Driven Development (SDD). </a:t>
            </a:r>
            <a:r>
              <a:rPr lang="en-US" sz="1100" dirty="0" err="1">
                <a:latin typeface="Arial Rounded MT Bold" panose="020F0704030504030204" pitchFamily="34" charset="0"/>
              </a:rPr>
              <a:t>Melalui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pendekatan</a:t>
            </a:r>
            <a:r>
              <a:rPr lang="en-US" sz="1100" dirty="0">
                <a:latin typeface="Arial Rounded MT Bold" panose="020F0704030504030204" pitchFamily="34" charset="0"/>
              </a:rPr>
              <a:t> ini, </a:t>
            </a:r>
            <a:r>
              <a:rPr lang="en-US" sz="1100" dirty="0" err="1">
                <a:latin typeface="Arial Rounded MT Bold" panose="020F0704030504030204" pitchFamily="34" charset="0"/>
              </a:rPr>
              <a:t>spesifikasi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sistem</a:t>
            </a:r>
            <a:r>
              <a:rPr lang="en-US" sz="1100" dirty="0">
                <a:latin typeface="Arial Rounded MT Bold" panose="020F0704030504030204" pitchFamily="34" charset="0"/>
              </a:rPr>
              <a:t>, </a:t>
            </a:r>
            <a:r>
              <a:rPr lang="en-US" sz="1100" dirty="0" err="1">
                <a:latin typeface="Arial Rounded MT Bold" panose="020F0704030504030204" pitchFamily="34" charset="0"/>
              </a:rPr>
              <a:t>skema</a:t>
            </a:r>
            <a:r>
              <a:rPr lang="en-US" sz="1100" dirty="0">
                <a:latin typeface="Arial Rounded MT Bold" panose="020F0704030504030204" pitchFamily="34" charset="0"/>
              </a:rPr>
              <a:t> basis data (PostgreSQL dan IPFS), dan parameter </a:t>
            </a:r>
            <a:r>
              <a:rPr lang="en-US" sz="1100" dirty="0" err="1">
                <a:latin typeface="Arial Rounded MT Bold" panose="020F0704030504030204" pitchFamily="34" charset="0"/>
              </a:rPr>
              <a:t>integrasi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eksternal</a:t>
            </a:r>
            <a:r>
              <a:rPr lang="en-US" sz="1100" dirty="0">
                <a:latin typeface="Arial Rounded MT Bold" panose="020F0704030504030204" pitchFamily="34" charset="0"/>
              </a:rPr>
              <a:t> (SNAP BI &amp; IASC OJK) </a:t>
            </a:r>
            <a:r>
              <a:rPr lang="en-US" sz="1100" dirty="0" err="1">
                <a:latin typeface="Arial Rounded MT Bold" panose="020F0704030504030204" pitchFamily="34" charset="0"/>
              </a:rPr>
              <a:t>divalidasi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sejak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awal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desain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logika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untuk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menjamin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stabilitas</a:t>
            </a:r>
            <a:r>
              <a:rPr lang="en-US" sz="1100" dirty="0">
                <a:latin typeface="Arial Rounded MT Bold" panose="020F0704030504030204" pitchFamily="34" charset="0"/>
              </a:rPr>
              <a:t> (zero-bug </a:t>
            </a:r>
            <a:r>
              <a:rPr lang="en-US" sz="1100" dirty="0" err="1">
                <a:latin typeface="Arial Rounded MT Bold" panose="020F0704030504030204" pitchFamily="34" charset="0"/>
              </a:rPr>
              <a:t>logis</a:t>
            </a:r>
            <a:r>
              <a:rPr lang="en-US" sz="1100" dirty="0">
                <a:latin typeface="Arial Rounded MT Bold" panose="020F0704030504030204" pitchFamily="34" charset="0"/>
              </a:rPr>
              <a:t>), </a:t>
            </a:r>
            <a:r>
              <a:rPr lang="en-US" sz="1100" dirty="0" err="1">
                <a:latin typeface="Arial Rounded MT Bold" panose="020F0704030504030204" pitchFamily="34" charset="0"/>
              </a:rPr>
              <a:t>mencegah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halusinasi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arsitektur</a:t>
            </a:r>
            <a:r>
              <a:rPr lang="en-US" sz="1100" dirty="0">
                <a:latin typeface="Arial Rounded MT Bold" panose="020F0704030504030204" pitchFamily="34" charset="0"/>
              </a:rPr>
              <a:t>, dan </a:t>
            </a:r>
            <a:r>
              <a:rPr lang="en-US" sz="1100" dirty="0" err="1">
                <a:latin typeface="Arial Rounded MT Bold" panose="020F0704030504030204" pitchFamily="34" charset="0"/>
              </a:rPr>
              <a:t>mematuhi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prinsip</a:t>
            </a:r>
            <a:r>
              <a:rPr lang="en-US" sz="1100" dirty="0">
                <a:latin typeface="Arial Rounded MT Bold" panose="020F0704030504030204" pitchFamily="34" charset="0"/>
              </a:rPr>
              <a:t> Security and Privacy by Design (AES-256 &amp; ZKP). Strategi ini </a:t>
            </a:r>
            <a:r>
              <a:rPr lang="en-US" sz="1100" dirty="0" err="1">
                <a:latin typeface="Arial Rounded MT Bold" panose="020F0704030504030204" pitchFamily="34" charset="0"/>
              </a:rPr>
              <a:t>memastikan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proyek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memiliki</a:t>
            </a:r>
            <a:r>
              <a:rPr lang="en-US" sz="1100" dirty="0">
                <a:latin typeface="Arial Rounded MT Bold" panose="020F0704030504030204" pitchFamily="34" charset="0"/>
              </a:rPr>
              <a:t> burn rate </a:t>
            </a:r>
            <a:r>
              <a:rPr lang="en-US" sz="1100" dirty="0" err="1">
                <a:latin typeface="Arial Rounded MT Bold" panose="020F0704030504030204" pitchFamily="34" charset="0"/>
              </a:rPr>
              <a:t>operasional</a:t>
            </a:r>
            <a:r>
              <a:rPr lang="en-US" sz="1100" dirty="0">
                <a:latin typeface="Arial Rounded MT Bold" panose="020F0704030504030204" pitchFamily="34" charset="0"/>
              </a:rPr>
              <a:t> yang sangat </a:t>
            </a:r>
            <a:r>
              <a:rPr lang="en-US" sz="1100" dirty="0" err="1">
                <a:latin typeface="Arial Rounded MT Bold" panose="020F0704030504030204" pitchFamily="34" charset="0"/>
              </a:rPr>
              <a:t>rendah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namun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berstandar</a:t>
            </a:r>
            <a:r>
              <a:rPr lang="en-US" sz="1100" dirty="0">
                <a:latin typeface="Arial Rounded MT Bold" panose="020F0704030504030204" pitchFamily="34" charset="0"/>
              </a:rPr>
              <a:t> enterprise.</a:t>
            </a:r>
          </a:p>
          <a:p>
            <a:pPr algn="just"/>
            <a:endParaRPr lang="en-US" sz="11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1100" dirty="0">
                <a:latin typeface="Arial Rounded MT Bold" panose="020F0704030504030204" pitchFamily="34" charset="0"/>
              </a:rPr>
              <a:t>C. </a:t>
            </a:r>
            <a:r>
              <a:rPr lang="en-US" sz="1100" dirty="0" err="1">
                <a:latin typeface="Arial Rounded MT Bold" panose="020F0704030504030204" pitchFamily="34" charset="0"/>
              </a:rPr>
              <a:t>Referensi</a:t>
            </a:r>
            <a:r>
              <a:rPr lang="en-US" sz="1100" dirty="0">
                <a:latin typeface="Arial Rounded MT Bold" panose="020F0704030504030204" pitchFamily="34" charset="0"/>
              </a:rPr>
              <a:t> Utama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Bank Indonesia. (2022). White Paper Proyek Garuda: </a:t>
            </a:r>
            <a:r>
              <a:rPr lang="en-US" sz="1100" dirty="0" err="1">
                <a:latin typeface="Arial Rounded MT Bold" panose="020F0704030504030204" pitchFamily="34" charset="0"/>
              </a:rPr>
              <a:t>Menavigasi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Arsitektur</a:t>
            </a:r>
            <a:r>
              <a:rPr lang="en-US" sz="1100" dirty="0">
                <a:latin typeface="Arial Rounded MT Bold" panose="020F0704030504030204" pitchFamily="34" charset="0"/>
              </a:rPr>
              <a:t> Rupiah Digital.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Bank Indonesia. (2023). Consultative Paper Proyek Garuda: Wholesale Rupiah Digital Cash Ledger. 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Bank Indonesia. (2024). </a:t>
            </a:r>
            <a:r>
              <a:rPr lang="en-US" sz="1100" dirty="0" err="1">
                <a:latin typeface="Arial Rounded MT Bold" panose="020F0704030504030204" pitchFamily="34" charset="0"/>
              </a:rPr>
              <a:t>Laporan</a:t>
            </a:r>
            <a:r>
              <a:rPr lang="en-US" sz="1100" dirty="0">
                <a:latin typeface="Arial Rounded MT Bold" panose="020F0704030504030204" pitchFamily="34" charset="0"/>
              </a:rPr>
              <a:t> Proof of Concept (PoC) Wholesale Rupiah Digital Cash Ledger (</a:t>
            </a:r>
            <a:r>
              <a:rPr lang="en-US" sz="1100" dirty="0" err="1">
                <a:latin typeface="Arial Rounded MT Bold" panose="020F0704030504030204" pitchFamily="34" charset="0"/>
              </a:rPr>
              <a:t>Implementasi</a:t>
            </a:r>
            <a:r>
              <a:rPr lang="en-US" sz="1100" dirty="0">
                <a:latin typeface="Arial Rounded MT Bold" panose="020F0704030504030204" pitchFamily="34" charset="0"/>
              </a:rPr>
              <a:t> DLT Hyperledger Besu). 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Bank Indonesia. (2019). Blueprint </a:t>
            </a:r>
            <a:r>
              <a:rPr lang="en-US" sz="1100" dirty="0" err="1">
                <a:latin typeface="Arial Rounded MT Bold" panose="020F0704030504030204" pitchFamily="34" charset="0"/>
              </a:rPr>
              <a:t>Sistem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Pembayaran</a:t>
            </a:r>
            <a:r>
              <a:rPr lang="en-US" sz="1100" dirty="0">
                <a:latin typeface="Arial Rounded MT Bold" panose="020F0704030504030204" pitchFamily="34" charset="0"/>
              </a:rPr>
              <a:t> Indonesia (BSPI) 2030. </a:t>
            </a:r>
          </a:p>
          <a:p>
            <a:pPr marL="171450" indent="-171450" algn="just">
              <a:buFontTx/>
              <a:buChar char="-"/>
            </a:pPr>
            <a:r>
              <a:rPr lang="en-US" sz="1100" dirty="0" err="1">
                <a:latin typeface="Arial Rounded MT Bold" panose="020F0704030504030204" pitchFamily="34" charset="0"/>
              </a:rPr>
              <a:t>Otoritas</a:t>
            </a:r>
            <a:r>
              <a:rPr lang="en-US" sz="1100" dirty="0">
                <a:latin typeface="Arial Rounded MT Bold" panose="020F0704030504030204" pitchFamily="34" charset="0"/>
              </a:rPr>
              <a:t> Jasa </a:t>
            </a:r>
            <a:r>
              <a:rPr lang="en-US" sz="1100" dirty="0" err="1">
                <a:latin typeface="Arial Rounded MT Bold" panose="020F0704030504030204" pitchFamily="34" charset="0"/>
              </a:rPr>
              <a:t>Keuangan</a:t>
            </a:r>
            <a:r>
              <a:rPr lang="en-US" sz="1100" dirty="0">
                <a:latin typeface="Arial Rounded MT Bold" panose="020F0704030504030204" pitchFamily="34" charset="0"/>
              </a:rPr>
              <a:t> (OJK). (2024). </a:t>
            </a:r>
            <a:r>
              <a:rPr lang="en-US" sz="1100" dirty="0" err="1">
                <a:latin typeface="Arial Rounded MT Bold" panose="020F0704030504030204" pitchFamily="34" charset="0"/>
              </a:rPr>
              <a:t>Buku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Pertemuan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Tahunan</a:t>
            </a:r>
            <a:r>
              <a:rPr lang="en-US" sz="1100" dirty="0">
                <a:latin typeface="Arial Rounded MT Bold" panose="020F0704030504030204" pitchFamily="34" charset="0"/>
              </a:rPr>
              <a:t> Industri Jasa </a:t>
            </a:r>
            <a:r>
              <a:rPr lang="en-US" sz="1100" dirty="0" err="1">
                <a:latin typeface="Arial Rounded MT Bold" panose="020F0704030504030204" pitchFamily="34" charset="0"/>
              </a:rPr>
              <a:t>Keuangan</a:t>
            </a:r>
            <a:r>
              <a:rPr lang="en-US" sz="1100" dirty="0">
                <a:latin typeface="Arial Rounded MT Bold" panose="020F0704030504030204" pitchFamily="34" charset="0"/>
              </a:rPr>
              <a:t> (PTIJK). </a:t>
            </a:r>
          </a:p>
          <a:p>
            <a:pPr marL="171450" indent="-171450" algn="just">
              <a:buFontTx/>
              <a:buChar char="-"/>
            </a:pPr>
            <a:r>
              <a:rPr lang="en-US" sz="1100" dirty="0" err="1">
                <a:latin typeface="Arial Rounded MT Bold" panose="020F0704030504030204" pitchFamily="34" charset="0"/>
              </a:rPr>
              <a:t>Otoritas</a:t>
            </a:r>
            <a:r>
              <a:rPr lang="en-US" sz="1100" dirty="0">
                <a:latin typeface="Arial Rounded MT Bold" panose="020F0704030504030204" pitchFamily="34" charset="0"/>
              </a:rPr>
              <a:t> Jasa </a:t>
            </a:r>
            <a:r>
              <a:rPr lang="en-US" sz="1100" dirty="0" err="1">
                <a:latin typeface="Arial Rounded MT Bold" panose="020F0704030504030204" pitchFamily="34" charset="0"/>
              </a:rPr>
              <a:t>Keuangan</a:t>
            </a:r>
            <a:r>
              <a:rPr lang="en-US" sz="1100" dirty="0">
                <a:latin typeface="Arial Rounded MT Bold" panose="020F0704030504030204" pitchFamily="34" charset="0"/>
              </a:rPr>
              <a:t> (OJK). Panduan dan Integrasi Indonesia Anti-Scam Centre (IASC). 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Pusat </a:t>
            </a:r>
            <a:r>
              <a:rPr lang="en-US" sz="1100" dirty="0" err="1">
                <a:latin typeface="Arial Rounded MT Bold" panose="020F0704030504030204" pitchFamily="34" charset="0"/>
              </a:rPr>
              <a:t>Informasi</a:t>
            </a:r>
            <a:r>
              <a:rPr lang="en-US" sz="1100" dirty="0">
                <a:latin typeface="Arial Rounded MT Bold" panose="020F0704030504030204" pitchFamily="34" charset="0"/>
              </a:rPr>
              <a:t> Harga Pangan </a:t>
            </a:r>
            <a:r>
              <a:rPr lang="en-US" sz="1100" dirty="0" err="1">
                <a:latin typeface="Arial Rounded MT Bold" panose="020F0704030504030204" pitchFamily="34" charset="0"/>
              </a:rPr>
              <a:t>Strategis</a:t>
            </a:r>
            <a:r>
              <a:rPr lang="en-US" sz="1100" dirty="0">
                <a:latin typeface="Arial Rounded MT Bold" panose="020F0704030504030204" pitchFamily="34" charset="0"/>
              </a:rPr>
              <a:t> (PIHPS) Nasional. Data </a:t>
            </a:r>
            <a:r>
              <a:rPr lang="en-US" sz="1100" dirty="0" err="1">
                <a:latin typeface="Arial Rounded MT Bold" panose="020F0704030504030204" pitchFamily="34" charset="0"/>
              </a:rPr>
              <a:t>Otoritatif</a:t>
            </a:r>
            <a:r>
              <a:rPr lang="en-US" sz="1100" dirty="0">
                <a:latin typeface="Arial Rounded MT Bold" panose="020F0704030504030204" pitchFamily="34" charset="0"/>
              </a:rPr>
              <a:t> Harga Pangan. 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Republik Indonesia. (2022). </a:t>
            </a:r>
            <a:r>
              <a:rPr lang="en-US" sz="1100" dirty="0" err="1">
                <a:latin typeface="Arial Rounded MT Bold" panose="020F0704030504030204" pitchFamily="34" charset="0"/>
              </a:rPr>
              <a:t>Undang-Undang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Pelindungan</a:t>
            </a:r>
            <a:r>
              <a:rPr lang="en-US" sz="1100" dirty="0">
                <a:latin typeface="Arial Rounded MT Bold" panose="020F0704030504030204" pitchFamily="34" charset="0"/>
              </a:rPr>
              <a:t> Data </a:t>
            </a:r>
            <a:r>
              <a:rPr lang="en-US" sz="1100" dirty="0" err="1">
                <a:latin typeface="Arial Rounded MT Bold" panose="020F0704030504030204" pitchFamily="34" charset="0"/>
              </a:rPr>
              <a:t>Pribadi</a:t>
            </a:r>
            <a:r>
              <a:rPr lang="en-US" sz="1100" dirty="0">
                <a:latin typeface="Arial Rounded MT Bold" panose="020F0704030504030204" pitchFamily="34" charset="0"/>
              </a:rPr>
              <a:t> (UU PDP) (</a:t>
            </a:r>
            <a:r>
              <a:rPr lang="en-US" sz="1100" dirty="0" err="1">
                <a:latin typeface="Arial Rounded MT Bold" panose="020F0704030504030204" pitchFamily="34" charset="0"/>
              </a:rPr>
              <a:t>Kepatuhan</a:t>
            </a:r>
            <a:r>
              <a:rPr lang="en-US" sz="1100" dirty="0">
                <a:latin typeface="Arial Rounded MT Bold" panose="020F0704030504030204" pitchFamily="34" charset="0"/>
              </a:rPr>
              <a:t> </a:t>
            </a:r>
            <a:r>
              <a:rPr lang="en-US" sz="1100" dirty="0" err="1">
                <a:latin typeface="Arial Rounded MT Bold" panose="020F0704030504030204" pitchFamily="34" charset="0"/>
              </a:rPr>
              <a:t>Enkripsi</a:t>
            </a:r>
            <a:r>
              <a:rPr lang="en-US" sz="1100" dirty="0">
                <a:latin typeface="Arial Rounded MT Bold" panose="020F0704030504030204" pitchFamily="34" charset="0"/>
              </a:rPr>
              <a:t> Data Siber). </a:t>
            </a:r>
          </a:p>
          <a:p>
            <a:pPr marL="171450" indent="-171450" algn="just">
              <a:buFontTx/>
              <a:buChar char="-"/>
            </a:pPr>
            <a:r>
              <a:rPr lang="en-US" sz="1100" dirty="0">
                <a:latin typeface="Arial Rounded MT Bold" panose="020F0704030504030204" pitchFamily="34" charset="0"/>
              </a:rPr>
              <a:t>Pusat </a:t>
            </a:r>
            <a:r>
              <a:rPr lang="en-US" sz="1100" dirty="0" err="1">
                <a:latin typeface="Arial Rounded MT Bold" panose="020F0704030504030204" pitchFamily="34" charset="0"/>
              </a:rPr>
              <a:t>Inovasi</a:t>
            </a:r>
            <a:r>
              <a:rPr lang="en-US" sz="1100" dirty="0">
                <a:latin typeface="Arial Rounded MT Bold" panose="020F0704030504030204" pitchFamily="34" charset="0"/>
              </a:rPr>
              <a:t> Digital Indonesia (PIDI). (2026). Booklet PIDI - DIGDAYA x HACKATHON 2026.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560000" cy="10692000"/>
          </a:xfrm>
          <a:custGeom>
            <a:avLst/>
            <a:gdLst/>
            <a:ahLst/>
            <a:cxnLst/>
            <a:rect l="l" t="t" r="r" b="b"/>
            <a:pathLst>
              <a:path w="7560000" h="10692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11" t="-4099" r="-1511" b="-409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22613" y="4693338"/>
            <a:ext cx="5114773" cy="652662"/>
            <a:chOff x="0" y="0"/>
            <a:chExt cx="6819698" cy="870217"/>
          </a:xfrm>
        </p:grpSpPr>
        <p:sp>
          <p:nvSpPr>
            <p:cNvPr id="4" name="Freeform 4"/>
            <p:cNvSpPr/>
            <p:nvPr/>
          </p:nvSpPr>
          <p:spPr>
            <a:xfrm>
              <a:off x="3255378" y="0"/>
              <a:ext cx="601698" cy="870217"/>
            </a:xfrm>
            <a:custGeom>
              <a:avLst/>
              <a:gdLst/>
              <a:ahLst/>
              <a:cxnLst/>
              <a:rect l="l" t="t" r="r" b="b"/>
              <a:pathLst>
                <a:path w="601698" h="870217">
                  <a:moveTo>
                    <a:pt x="0" y="0"/>
                  </a:moveTo>
                  <a:lnTo>
                    <a:pt x="601698" y="0"/>
                  </a:lnTo>
                  <a:lnTo>
                    <a:pt x="601698" y="870217"/>
                  </a:lnTo>
                  <a:lnTo>
                    <a:pt x="0" y="870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11018" r="-592956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3975127" y="84686"/>
              <a:ext cx="2844570" cy="700844"/>
            </a:xfrm>
            <a:custGeom>
              <a:avLst/>
              <a:gdLst/>
              <a:ahLst/>
              <a:cxnLst/>
              <a:rect l="l" t="t" r="r" b="b"/>
              <a:pathLst>
                <a:path w="2844570" h="700844">
                  <a:moveTo>
                    <a:pt x="0" y="0"/>
                  </a:moveTo>
                  <a:lnTo>
                    <a:pt x="2844571" y="0"/>
                  </a:lnTo>
                  <a:lnTo>
                    <a:pt x="2844571" y="700844"/>
                  </a:lnTo>
                  <a:lnTo>
                    <a:pt x="0" y="7008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22138"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0"/>
              <a:ext cx="3135922" cy="812019"/>
            </a:xfrm>
            <a:custGeom>
              <a:avLst/>
              <a:gdLst/>
              <a:ahLst/>
              <a:cxnLst/>
              <a:rect l="l" t="t" r="r" b="b"/>
              <a:pathLst>
                <a:path w="3135922" h="812019">
                  <a:moveTo>
                    <a:pt x="0" y="0"/>
                  </a:moveTo>
                  <a:lnTo>
                    <a:pt x="3135922" y="0"/>
                  </a:lnTo>
                  <a:lnTo>
                    <a:pt x="3135922" y="812019"/>
                  </a:lnTo>
                  <a:lnTo>
                    <a:pt x="0" y="812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2337" r="-1127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1098134" y="5555342"/>
            <a:ext cx="5341220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berinovasi untuk masa depan,</a:t>
            </a:r>
          </a:p>
          <a:p>
            <a:pPr algn="ctr">
              <a:lnSpc>
                <a:spcPts val="1500"/>
              </a:lnSpc>
            </a:pPr>
            <a:r>
              <a:rPr lang="en-US" sz="1500">
                <a:solidFill>
                  <a:srgbClr val="E6EBF4"/>
                </a:solidFill>
                <a:latin typeface="Mortend Bold"/>
                <a:ea typeface="Mortend Bold"/>
                <a:cs typeface="Mortend Bold"/>
                <a:sym typeface="Mortend Bold"/>
              </a:rPr>
              <a:t>memberdayakan talenta digital</a:t>
            </a:r>
          </a:p>
        </p:txBody>
      </p:sp>
      <p:sp>
        <p:nvSpPr>
          <p:cNvPr id="8" name="Freeform 8"/>
          <p:cNvSpPr/>
          <p:nvPr/>
        </p:nvSpPr>
        <p:spPr>
          <a:xfrm>
            <a:off x="1099298" y="756000"/>
            <a:ext cx="1197187" cy="225833"/>
          </a:xfrm>
          <a:custGeom>
            <a:avLst/>
            <a:gdLst/>
            <a:ahLst/>
            <a:cxnLst/>
            <a:rect l="l" t="t" r="r" b="b"/>
            <a:pathLst>
              <a:path w="1197187" h="225833">
                <a:moveTo>
                  <a:pt x="0" y="0"/>
                </a:moveTo>
                <a:lnTo>
                  <a:pt x="1197187" y="0"/>
                </a:lnTo>
                <a:lnTo>
                  <a:pt x="1197187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48199" y="756000"/>
            <a:ext cx="519156" cy="225833"/>
          </a:xfrm>
          <a:custGeom>
            <a:avLst/>
            <a:gdLst/>
            <a:ahLst/>
            <a:cxnLst/>
            <a:rect l="l" t="t" r="r" b="b"/>
            <a:pathLst>
              <a:path w="519156" h="225833">
                <a:moveTo>
                  <a:pt x="0" y="0"/>
                </a:moveTo>
                <a:lnTo>
                  <a:pt x="519156" y="0"/>
                </a:lnTo>
                <a:lnTo>
                  <a:pt x="51915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315005" y="756000"/>
            <a:ext cx="728085" cy="225833"/>
          </a:xfrm>
          <a:custGeom>
            <a:avLst/>
            <a:gdLst/>
            <a:ahLst/>
            <a:cxnLst/>
            <a:rect l="l" t="t" r="r" b="b"/>
            <a:pathLst>
              <a:path w="728085" h="225833">
                <a:moveTo>
                  <a:pt x="0" y="0"/>
                </a:moveTo>
                <a:lnTo>
                  <a:pt x="728086" y="0"/>
                </a:lnTo>
                <a:lnTo>
                  <a:pt x="72808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290741" y="756000"/>
            <a:ext cx="422447" cy="225833"/>
          </a:xfrm>
          <a:custGeom>
            <a:avLst/>
            <a:gdLst/>
            <a:ahLst/>
            <a:cxnLst/>
            <a:rect l="l" t="t" r="r" b="b"/>
            <a:pathLst>
              <a:path w="422447" h="225833">
                <a:moveTo>
                  <a:pt x="0" y="0"/>
                </a:moveTo>
                <a:lnTo>
                  <a:pt x="422446" y="0"/>
                </a:lnTo>
                <a:lnTo>
                  <a:pt x="422446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960837" y="756000"/>
            <a:ext cx="781729" cy="225833"/>
          </a:xfrm>
          <a:custGeom>
            <a:avLst/>
            <a:gdLst/>
            <a:ahLst/>
            <a:cxnLst/>
            <a:rect l="l" t="t" r="r" b="b"/>
            <a:pathLst>
              <a:path w="781729" h="225833">
                <a:moveTo>
                  <a:pt x="0" y="0"/>
                </a:moveTo>
                <a:lnTo>
                  <a:pt x="781730" y="0"/>
                </a:lnTo>
                <a:lnTo>
                  <a:pt x="781730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5990217" y="756000"/>
            <a:ext cx="470485" cy="225833"/>
          </a:xfrm>
          <a:custGeom>
            <a:avLst/>
            <a:gdLst/>
            <a:ahLst/>
            <a:cxnLst/>
            <a:rect l="l" t="t" r="r" b="b"/>
            <a:pathLst>
              <a:path w="470485" h="225833">
                <a:moveTo>
                  <a:pt x="0" y="0"/>
                </a:moveTo>
                <a:lnTo>
                  <a:pt x="470485" y="0"/>
                </a:lnTo>
                <a:lnTo>
                  <a:pt x="470485" y="225833"/>
                </a:lnTo>
                <a:lnTo>
                  <a:pt x="0" y="22583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3763</Words>
  <Application>Microsoft Office PowerPoint</Application>
  <PresentationFormat>Custom</PresentationFormat>
  <Paragraphs>588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Mortend Bold</vt:lpstr>
      <vt:lpstr>Calibri</vt:lpstr>
      <vt:lpstr>Arial</vt:lpstr>
      <vt:lpstr>Arial Rounded MT Bold</vt:lpstr>
      <vt:lpstr>Oxanium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Template Proposal 1st Submission Hackathon Digdaya 2026</dc:title>
  <cp:lastModifiedBy>PC2021</cp:lastModifiedBy>
  <cp:revision>29</cp:revision>
  <dcterms:created xsi:type="dcterms:W3CDTF">2006-08-16T00:00:00Z</dcterms:created>
  <dcterms:modified xsi:type="dcterms:W3CDTF">2026-03-15T09:06:20Z</dcterms:modified>
  <dc:identifier>DAHB19nf6LU</dc:identifier>
</cp:coreProperties>
</file>